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EFEF6-051E-47DE-AC86-47F70B73C4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818637B6-71BB-4CA3-8FDD-9A037275CC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2400" b="0" dirty="0"/>
            <a:t>Objetivo general:</a:t>
          </a:r>
          <a:endParaRPr lang="en-US" sz="2400" b="0" dirty="0"/>
        </a:p>
      </dgm:t>
    </dgm:pt>
    <dgm:pt modelId="{6D6A569A-94B2-4762-A1EC-4E36A4A85A99}" type="parTrans" cxnId="{C5838781-E663-4634-8D8F-D0F9E4F0E292}">
      <dgm:prSet/>
      <dgm:spPr/>
      <dgm:t>
        <a:bodyPr/>
        <a:lstStyle/>
        <a:p>
          <a:endParaRPr lang="en-US"/>
        </a:p>
      </dgm:t>
    </dgm:pt>
    <dgm:pt modelId="{7E718BE9-F991-4A45-BBF8-153936B0C221}" type="sibTrans" cxnId="{C5838781-E663-4634-8D8F-D0F9E4F0E292}">
      <dgm:prSet/>
      <dgm:spPr/>
      <dgm:t>
        <a:bodyPr/>
        <a:lstStyle/>
        <a:p>
          <a:endParaRPr lang="en-US"/>
        </a:p>
      </dgm:t>
    </dgm:pt>
    <dgm:pt modelId="{849F43DA-63C0-401B-8FE7-6676BCE778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Analizar el impacto de la pandemia en la salud mental de la población española centrándose en cinco comunidades autónomas (Andalucía, Castilla y León, Galicia, Madrid y País Vasco), mediante técnicas de análisis multivariantes.</a:t>
          </a:r>
          <a:endParaRPr lang="en-US" sz="1400" dirty="0"/>
        </a:p>
      </dgm:t>
    </dgm:pt>
    <dgm:pt modelId="{5D5087B2-59E6-41AB-B585-5238B57F8893}" type="parTrans" cxnId="{9F3D47E1-9F29-455D-AC00-F46CB87CB69B}">
      <dgm:prSet/>
      <dgm:spPr/>
      <dgm:t>
        <a:bodyPr/>
        <a:lstStyle/>
        <a:p>
          <a:endParaRPr lang="en-US"/>
        </a:p>
      </dgm:t>
    </dgm:pt>
    <dgm:pt modelId="{E42C099F-ADC3-4EB0-BFA0-F6585F566E67}" type="sibTrans" cxnId="{9F3D47E1-9F29-455D-AC00-F46CB87CB69B}">
      <dgm:prSet/>
      <dgm:spPr/>
      <dgm:t>
        <a:bodyPr/>
        <a:lstStyle/>
        <a:p>
          <a:endParaRPr lang="en-US"/>
        </a:p>
      </dgm:t>
    </dgm:pt>
    <dgm:pt modelId="{CEC8CB7A-0796-47F4-92F8-ABAA976192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2400" b="0" dirty="0"/>
            <a:t>Objetivos específicos:</a:t>
          </a:r>
          <a:endParaRPr lang="en-US" sz="2400" b="0" dirty="0"/>
        </a:p>
      </dgm:t>
    </dgm:pt>
    <dgm:pt modelId="{1C9B146D-7937-418A-8CEB-814F88338AC5}" type="parTrans" cxnId="{2A376F5A-3B06-4602-8325-02F1D8D3CB66}">
      <dgm:prSet/>
      <dgm:spPr/>
      <dgm:t>
        <a:bodyPr/>
        <a:lstStyle/>
        <a:p>
          <a:endParaRPr lang="en-US"/>
        </a:p>
      </dgm:t>
    </dgm:pt>
    <dgm:pt modelId="{B366D875-C52D-42B1-9A22-DD5F7E3C41A7}" type="sibTrans" cxnId="{2A376F5A-3B06-4602-8325-02F1D8D3CB66}">
      <dgm:prSet/>
      <dgm:spPr/>
      <dgm:t>
        <a:bodyPr/>
        <a:lstStyle/>
        <a:p>
          <a:endParaRPr lang="en-US"/>
        </a:p>
      </dgm:t>
    </dgm:pt>
    <dgm:pt modelId="{03F8A50E-7AB4-4FC1-9589-3F2CC6CABA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Identificar patrones comunes.</a:t>
          </a:r>
          <a:endParaRPr lang="en-US" sz="1400" dirty="0"/>
        </a:p>
      </dgm:t>
    </dgm:pt>
    <dgm:pt modelId="{9EF0DA23-0F4A-4B9C-A989-133280D0371B}" type="parTrans" cxnId="{DAB382D7-C524-4323-A550-59B17376859B}">
      <dgm:prSet/>
      <dgm:spPr/>
      <dgm:t>
        <a:bodyPr/>
        <a:lstStyle/>
        <a:p>
          <a:endParaRPr lang="en-US"/>
        </a:p>
      </dgm:t>
    </dgm:pt>
    <dgm:pt modelId="{F53FB9A0-0832-4D71-93CB-72600750BEAE}" type="sibTrans" cxnId="{DAB382D7-C524-4323-A550-59B17376859B}">
      <dgm:prSet/>
      <dgm:spPr/>
      <dgm:t>
        <a:bodyPr/>
        <a:lstStyle/>
        <a:p>
          <a:endParaRPr lang="en-US"/>
        </a:p>
      </dgm:t>
    </dgm:pt>
    <dgm:pt modelId="{DE119FCF-D7AB-4E38-AD5A-AD363DC5F16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Clasificar los distintos niveles de afectación.</a:t>
          </a:r>
        </a:p>
        <a:p>
          <a:pPr>
            <a:lnSpc>
              <a:spcPct val="100000"/>
            </a:lnSpc>
          </a:pPr>
          <a:r>
            <a:rPr lang="es-ES" sz="1400" dirty="0"/>
            <a:t>Definir perfiles sociodemográficos afectados.</a:t>
          </a:r>
          <a:endParaRPr lang="en-US" sz="1400" dirty="0"/>
        </a:p>
      </dgm:t>
    </dgm:pt>
    <dgm:pt modelId="{A8BE2EC9-D84A-40F5-A4C5-38FE41482E25}" type="parTrans" cxnId="{2BA116C8-BA7A-4C99-954D-D1E8DBF0B646}">
      <dgm:prSet/>
      <dgm:spPr/>
      <dgm:t>
        <a:bodyPr/>
        <a:lstStyle/>
        <a:p>
          <a:endParaRPr lang="en-US"/>
        </a:p>
      </dgm:t>
    </dgm:pt>
    <dgm:pt modelId="{D6768066-B546-4382-BC16-C674905850BA}" type="sibTrans" cxnId="{2BA116C8-BA7A-4C99-954D-D1E8DBF0B646}">
      <dgm:prSet/>
      <dgm:spPr/>
      <dgm:t>
        <a:bodyPr/>
        <a:lstStyle/>
        <a:p>
          <a:endParaRPr lang="en-US"/>
        </a:p>
      </dgm:t>
    </dgm:pt>
    <dgm:pt modelId="{F1BA275B-3FA3-46C7-8D1E-DDBA85FD78FE}" type="pres">
      <dgm:prSet presAssocID="{0D9EFEF6-051E-47DE-AC86-47F70B73C41D}" presName="root" presStyleCnt="0">
        <dgm:presLayoutVars>
          <dgm:dir/>
          <dgm:resizeHandles val="exact"/>
        </dgm:presLayoutVars>
      </dgm:prSet>
      <dgm:spPr/>
    </dgm:pt>
    <dgm:pt modelId="{923DC9F0-0974-47D2-950D-92306409BBA0}" type="pres">
      <dgm:prSet presAssocID="{818637B6-71BB-4CA3-8FDD-9A037275CCCC}" presName="compNode" presStyleCnt="0"/>
      <dgm:spPr/>
    </dgm:pt>
    <dgm:pt modelId="{84CE532C-0B1A-4744-88C3-E695B9C48446}" type="pres">
      <dgm:prSet presAssocID="{818637B6-71BB-4CA3-8FDD-9A037275CCCC}" presName="bgRect" presStyleLbl="bgShp" presStyleIdx="0" presStyleCnt="2"/>
      <dgm:spPr/>
    </dgm:pt>
    <dgm:pt modelId="{092F048F-9CE0-4CD9-B9DE-CB353AC38BFB}" type="pres">
      <dgm:prSet presAssocID="{818637B6-71BB-4CA3-8FDD-9A037275CC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A48FA472-CBA9-43F0-84A3-CA770D171016}" type="pres">
      <dgm:prSet presAssocID="{818637B6-71BB-4CA3-8FDD-9A037275CCCC}" presName="spaceRect" presStyleCnt="0"/>
      <dgm:spPr/>
    </dgm:pt>
    <dgm:pt modelId="{4A45BF05-687C-45E0-A44A-11F9B57BDF84}" type="pres">
      <dgm:prSet presAssocID="{818637B6-71BB-4CA3-8FDD-9A037275CCCC}" presName="parTx" presStyleLbl="revTx" presStyleIdx="0" presStyleCnt="4">
        <dgm:presLayoutVars>
          <dgm:chMax val="0"/>
          <dgm:chPref val="0"/>
        </dgm:presLayoutVars>
      </dgm:prSet>
      <dgm:spPr/>
    </dgm:pt>
    <dgm:pt modelId="{BFA0DA50-2F92-47A1-8D02-84CD7CABC38F}" type="pres">
      <dgm:prSet presAssocID="{818637B6-71BB-4CA3-8FDD-9A037275CCCC}" presName="desTx" presStyleLbl="revTx" presStyleIdx="1" presStyleCnt="4">
        <dgm:presLayoutVars/>
      </dgm:prSet>
      <dgm:spPr/>
    </dgm:pt>
    <dgm:pt modelId="{5ED2605C-218B-444E-819C-CC0D791E4863}" type="pres">
      <dgm:prSet presAssocID="{7E718BE9-F991-4A45-BBF8-153936B0C221}" presName="sibTrans" presStyleCnt="0"/>
      <dgm:spPr/>
    </dgm:pt>
    <dgm:pt modelId="{9F34F9CF-9297-441C-9494-022F18B1CD5C}" type="pres">
      <dgm:prSet presAssocID="{CEC8CB7A-0796-47F4-92F8-ABAA976192EA}" presName="compNode" presStyleCnt="0"/>
      <dgm:spPr/>
    </dgm:pt>
    <dgm:pt modelId="{57BB2CAB-D179-4C3A-946B-47771D024EAD}" type="pres">
      <dgm:prSet presAssocID="{CEC8CB7A-0796-47F4-92F8-ABAA976192EA}" presName="bgRect" presStyleLbl="bgShp" presStyleIdx="1" presStyleCnt="2" custScaleY="99907"/>
      <dgm:spPr/>
    </dgm:pt>
    <dgm:pt modelId="{E7109C0B-57E7-4B77-A41D-DCB0D3044F60}" type="pres">
      <dgm:prSet presAssocID="{CEC8CB7A-0796-47F4-92F8-ABAA976192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D593F417-BD78-4922-B717-4D8745FB5DED}" type="pres">
      <dgm:prSet presAssocID="{CEC8CB7A-0796-47F4-92F8-ABAA976192EA}" presName="spaceRect" presStyleCnt="0"/>
      <dgm:spPr/>
    </dgm:pt>
    <dgm:pt modelId="{28B39E5A-9C30-44C3-8ADA-CF164BED656F}" type="pres">
      <dgm:prSet presAssocID="{CEC8CB7A-0796-47F4-92F8-ABAA976192EA}" presName="parTx" presStyleLbl="revTx" presStyleIdx="2" presStyleCnt="4">
        <dgm:presLayoutVars>
          <dgm:chMax val="0"/>
          <dgm:chPref val="0"/>
        </dgm:presLayoutVars>
      </dgm:prSet>
      <dgm:spPr/>
    </dgm:pt>
    <dgm:pt modelId="{483E91BD-8FE9-4842-90FE-033C3897869C}" type="pres">
      <dgm:prSet presAssocID="{CEC8CB7A-0796-47F4-92F8-ABAA976192EA}" presName="desTx" presStyleLbl="revTx" presStyleIdx="3" presStyleCnt="4">
        <dgm:presLayoutVars/>
      </dgm:prSet>
      <dgm:spPr/>
    </dgm:pt>
  </dgm:ptLst>
  <dgm:cxnLst>
    <dgm:cxn modelId="{F8B87A16-7E99-4BFB-AE29-2B78EEA380C4}" type="presOf" srcId="{03F8A50E-7AB4-4FC1-9589-3F2CC6CABA17}" destId="{483E91BD-8FE9-4842-90FE-033C3897869C}" srcOrd="0" destOrd="0" presId="urn:microsoft.com/office/officeart/2018/2/layout/IconVerticalSolidList"/>
    <dgm:cxn modelId="{B9451760-D5CA-44B4-BB75-4029CF0AA1BB}" type="presOf" srcId="{849F43DA-63C0-401B-8FE7-6676BCE77883}" destId="{BFA0DA50-2F92-47A1-8D02-84CD7CABC38F}" srcOrd="0" destOrd="0" presId="urn:microsoft.com/office/officeart/2018/2/layout/IconVerticalSolidList"/>
    <dgm:cxn modelId="{C707196E-BAE6-4E9A-B5B2-53645493FF3F}" type="presOf" srcId="{818637B6-71BB-4CA3-8FDD-9A037275CCCC}" destId="{4A45BF05-687C-45E0-A44A-11F9B57BDF84}" srcOrd="0" destOrd="0" presId="urn:microsoft.com/office/officeart/2018/2/layout/IconVerticalSolidList"/>
    <dgm:cxn modelId="{2A376F5A-3B06-4602-8325-02F1D8D3CB66}" srcId="{0D9EFEF6-051E-47DE-AC86-47F70B73C41D}" destId="{CEC8CB7A-0796-47F4-92F8-ABAA976192EA}" srcOrd="1" destOrd="0" parTransId="{1C9B146D-7937-418A-8CEB-814F88338AC5}" sibTransId="{B366D875-C52D-42B1-9A22-DD5F7E3C41A7}"/>
    <dgm:cxn modelId="{58D6997D-DA2C-47DC-AE7C-C378D1C48D02}" type="presOf" srcId="{DE119FCF-D7AB-4E38-AD5A-AD363DC5F169}" destId="{483E91BD-8FE9-4842-90FE-033C3897869C}" srcOrd="0" destOrd="1" presId="urn:microsoft.com/office/officeart/2018/2/layout/IconVerticalSolidList"/>
    <dgm:cxn modelId="{C5838781-E663-4634-8D8F-D0F9E4F0E292}" srcId="{0D9EFEF6-051E-47DE-AC86-47F70B73C41D}" destId="{818637B6-71BB-4CA3-8FDD-9A037275CCCC}" srcOrd="0" destOrd="0" parTransId="{6D6A569A-94B2-4762-A1EC-4E36A4A85A99}" sibTransId="{7E718BE9-F991-4A45-BBF8-153936B0C221}"/>
    <dgm:cxn modelId="{2BA116C8-BA7A-4C99-954D-D1E8DBF0B646}" srcId="{CEC8CB7A-0796-47F4-92F8-ABAA976192EA}" destId="{DE119FCF-D7AB-4E38-AD5A-AD363DC5F169}" srcOrd="1" destOrd="0" parTransId="{A8BE2EC9-D84A-40F5-A4C5-38FE41482E25}" sibTransId="{D6768066-B546-4382-BC16-C674905850BA}"/>
    <dgm:cxn modelId="{74739FC8-98C7-414D-BDE8-F951C1412C2A}" type="presOf" srcId="{0D9EFEF6-051E-47DE-AC86-47F70B73C41D}" destId="{F1BA275B-3FA3-46C7-8D1E-DDBA85FD78FE}" srcOrd="0" destOrd="0" presId="urn:microsoft.com/office/officeart/2018/2/layout/IconVerticalSolidList"/>
    <dgm:cxn modelId="{DAB382D7-C524-4323-A550-59B17376859B}" srcId="{CEC8CB7A-0796-47F4-92F8-ABAA976192EA}" destId="{03F8A50E-7AB4-4FC1-9589-3F2CC6CABA17}" srcOrd="0" destOrd="0" parTransId="{9EF0DA23-0F4A-4B9C-A989-133280D0371B}" sibTransId="{F53FB9A0-0832-4D71-93CB-72600750BEAE}"/>
    <dgm:cxn modelId="{9F3D47E1-9F29-455D-AC00-F46CB87CB69B}" srcId="{818637B6-71BB-4CA3-8FDD-9A037275CCCC}" destId="{849F43DA-63C0-401B-8FE7-6676BCE77883}" srcOrd="0" destOrd="0" parTransId="{5D5087B2-59E6-41AB-B585-5238B57F8893}" sibTransId="{E42C099F-ADC3-4EB0-BFA0-F6585F566E67}"/>
    <dgm:cxn modelId="{5E40F6F2-EBA6-41A7-B19B-4D58DDB124E6}" type="presOf" srcId="{CEC8CB7A-0796-47F4-92F8-ABAA976192EA}" destId="{28B39E5A-9C30-44C3-8ADA-CF164BED656F}" srcOrd="0" destOrd="0" presId="urn:microsoft.com/office/officeart/2018/2/layout/IconVerticalSolidList"/>
    <dgm:cxn modelId="{68F70BEA-A4C0-4ED8-909C-E0422D6ABF5E}" type="presParOf" srcId="{F1BA275B-3FA3-46C7-8D1E-DDBA85FD78FE}" destId="{923DC9F0-0974-47D2-950D-92306409BBA0}" srcOrd="0" destOrd="0" presId="urn:microsoft.com/office/officeart/2018/2/layout/IconVerticalSolidList"/>
    <dgm:cxn modelId="{BBD4C2EC-6C0C-4449-B998-2B0BBFBB697E}" type="presParOf" srcId="{923DC9F0-0974-47D2-950D-92306409BBA0}" destId="{84CE532C-0B1A-4744-88C3-E695B9C48446}" srcOrd="0" destOrd="0" presId="urn:microsoft.com/office/officeart/2018/2/layout/IconVerticalSolidList"/>
    <dgm:cxn modelId="{B5B472EE-D40D-4D0F-98B3-FE95FFDE0182}" type="presParOf" srcId="{923DC9F0-0974-47D2-950D-92306409BBA0}" destId="{092F048F-9CE0-4CD9-B9DE-CB353AC38BFB}" srcOrd="1" destOrd="0" presId="urn:microsoft.com/office/officeart/2018/2/layout/IconVerticalSolidList"/>
    <dgm:cxn modelId="{47C7E3B3-E1F9-48BD-B241-3449E3D850DA}" type="presParOf" srcId="{923DC9F0-0974-47D2-950D-92306409BBA0}" destId="{A48FA472-CBA9-43F0-84A3-CA770D171016}" srcOrd="2" destOrd="0" presId="urn:microsoft.com/office/officeart/2018/2/layout/IconVerticalSolidList"/>
    <dgm:cxn modelId="{CF165033-3E3F-4100-BC28-F857DE6527CF}" type="presParOf" srcId="{923DC9F0-0974-47D2-950D-92306409BBA0}" destId="{4A45BF05-687C-45E0-A44A-11F9B57BDF84}" srcOrd="3" destOrd="0" presId="urn:microsoft.com/office/officeart/2018/2/layout/IconVerticalSolidList"/>
    <dgm:cxn modelId="{62277BF8-C7C7-4A0D-A755-3ADDBB20160B}" type="presParOf" srcId="{923DC9F0-0974-47D2-950D-92306409BBA0}" destId="{BFA0DA50-2F92-47A1-8D02-84CD7CABC38F}" srcOrd="4" destOrd="0" presId="urn:microsoft.com/office/officeart/2018/2/layout/IconVerticalSolidList"/>
    <dgm:cxn modelId="{45445E1A-11C9-4668-BEEA-4AA9A03318D8}" type="presParOf" srcId="{F1BA275B-3FA3-46C7-8D1E-DDBA85FD78FE}" destId="{5ED2605C-218B-444E-819C-CC0D791E4863}" srcOrd="1" destOrd="0" presId="urn:microsoft.com/office/officeart/2018/2/layout/IconVerticalSolidList"/>
    <dgm:cxn modelId="{71FF6AF3-0912-40A5-9CB8-8BB8C2B1BB96}" type="presParOf" srcId="{F1BA275B-3FA3-46C7-8D1E-DDBA85FD78FE}" destId="{9F34F9CF-9297-441C-9494-022F18B1CD5C}" srcOrd="2" destOrd="0" presId="urn:microsoft.com/office/officeart/2018/2/layout/IconVerticalSolidList"/>
    <dgm:cxn modelId="{871DAA2A-5530-4193-B4A4-F028A056E83C}" type="presParOf" srcId="{9F34F9CF-9297-441C-9494-022F18B1CD5C}" destId="{57BB2CAB-D179-4C3A-946B-47771D024EAD}" srcOrd="0" destOrd="0" presId="urn:microsoft.com/office/officeart/2018/2/layout/IconVerticalSolidList"/>
    <dgm:cxn modelId="{16F88BDD-023B-48AD-BF4E-C8266D7C3C29}" type="presParOf" srcId="{9F34F9CF-9297-441C-9494-022F18B1CD5C}" destId="{E7109C0B-57E7-4B77-A41D-DCB0D3044F60}" srcOrd="1" destOrd="0" presId="urn:microsoft.com/office/officeart/2018/2/layout/IconVerticalSolidList"/>
    <dgm:cxn modelId="{7F948D08-7DC7-4C87-A8F4-EFFDFF4FA883}" type="presParOf" srcId="{9F34F9CF-9297-441C-9494-022F18B1CD5C}" destId="{D593F417-BD78-4922-B717-4D8745FB5DED}" srcOrd="2" destOrd="0" presId="urn:microsoft.com/office/officeart/2018/2/layout/IconVerticalSolidList"/>
    <dgm:cxn modelId="{EAE99164-FBB9-4234-8807-CDADD8F4ADC2}" type="presParOf" srcId="{9F34F9CF-9297-441C-9494-022F18B1CD5C}" destId="{28B39E5A-9C30-44C3-8ADA-CF164BED656F}" srcOrd="3" destOrd="0" presId="urn:microsoft.com/office/officeart/2018/2/layout/IconVerticalSolidList"/>
    <dgm:cxn modelId="{093A5B0B-212A-4843-B687-4E18A1CC7D77}" type="presParOf" srcId="{9F34F9CF-9297-441C-9494-022F18B1CD5C}" destId="{483E91BD-8FE9-4842-90FE-033C389786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7ACAA6-0438-4B13-88EF-10C041799FCE}" type="doc">
      <dgm:prSet loTypeId="urn:microsoft.com/office/officeart/2018/5/layout/CenteredIconLabelDescriptionList" loCatId="icon" qsTypeId="urn:microsoft.com/office/officeart/2005/8/quickstyle/simple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0A0AEA-E6FF-47DD-9BF7-D2F3FE467C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 b="1" dirty="0"/>
            <a:t>Fuente de datos: </a:t>
          </a:r>
        </a:p>
        <a:p>
          <a:pPr>
            <a:lnSpc>
              <a:spcPct val="100000"/>
            </a:lnSpc>
            <a:defRPr b="1"/>
          </a:pPr>
          <a:r>
            <a:rPr lang="es-ES" b="0" dirty="0"/>
            <a:t>CIS – Barómetro COVID-19 (Estudio 3312, 2021).</a:t>
          </a:r>
          <a:endParaRPr lang="en-US" b="0" dirty="0"/>
        </a:p>
      </dgm:t>
    </dgm:pt>
    <dgm:pt modelId="{04F6F9C5-9DF1-4CE2-BE0E-7DE477A37333}" type="parTrans" cxnId="{3262BA1E-FE66-4B76-A618-DC52F7D5AE7F}">
      <dgm:prSet/>
      <dgm:spPr/>
      <dgm:t>
        <a:bodyPr/>
        <a:lstStyle/>
        <a:p>
          <a:endParaRPr lang="en-US"/>
        </a:p>
      </dgm:t>
    </dgm:pt>
    <dgm:pt modelId="{13C2A0D7-F0FC-490B-ACB1-672BA4D18220}" type="sibTrans" cxnId="{3262BA1E-FE66-4B76-A618-DC52F7D5AE7F}">
      <dgm:prSet/>
      <dgm:spPr/>
      <dgm:t>
        <a:bodyPr/>
        <a:lstStyle/>
        <a:p>
          <a:endParaRPr lang="en-US"/>
        </a:p>
      </dgm:t>
    </dgm:pt>
    <dgm:pt modelId="{523C9BDF-D639-461D-8FCF-6D4E89CA9B3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 b="1" dirty="0"/>
            <a:t>Ámbito del estudio: </a:t>
          </a:r>
        </a:p>
        <a:p>
          <a:pPr>
            <a:lnSpc>
              <a:spcPct val="100000"/>
            </a:lnSpc>
            <a:defRPr b="1"/>
          </a:pPr>
          <a:r>
            <a:rPr lang="es-ES" b="0" dirty="0"/>
            <a:t>5 Comunidades autónomas: Andalucía, Castilla y León, Galicia, Madrid y País Vasco</a:t>
          </a:r>
          <a:r>
            <a:rPr lang="es-ES" dirty="0"/>
            <a:t>.</a:t>
          </a:r>
          <a:endParaRPr lang="en-US" dirty="0"/>
        </a:p>
      </dgm:t>
    </dgm:pt>
    <dgm:pt modelId="{EAB7BED0-F3AE-4029-8C71-AE9DD7F5027A}" type="parTrans" cxnId="{6D19FB0B-EFAA-4D28-850F-C7FB0C84BF3B}">
      <dgm:prSet/>
      <dgm:spPr/>
      <dgm:t>
        <a:bodyPr/>
        <a:lstStyle/>
        <a:p>
          <a:endParaRPr lang="en-US"/>
        </a:p>
      </dgm:t>
    </dgm:pt>
    <dgm:pt modelId="{FD7D5038-86F7-4B54-90F7-9DCE19137A0C}" type="sibTrans" cxnId="{6D19FB0B-EFAA-4D28-850F-C7FB0C84BF3B}">
      <dgm:prSet/>
      <dgm:spPr/>
      <dgm:t>
        <a:bodyPr/>
        <a:lstStyle/>
        <a:p>
          <a:endParaRPr lang="en-US"/>
        </a:p>
      </dgm:t>
    </dgm:pt>
    <dgm:pt modelId="{9F6121A1-E4E1-4B4B-8086-B36F645BD5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 dirty="0"/>
            <a:t>Técnicas aplicadas:</a:t>
          </a:r>
          <a:endParaRPr lang="en-US" dirty="0"/>
        </a:p>
      </dgm:t>
    </dgm:pt>
    <dgm:pt modelId="{D172031A-1BBE-4ADC-9FE5-9AB55136F651}" type="parTrans" cxnId="{4763B3F7-492E-4303-8A2E-F12E8CD7D5F0}">
      <dgm:prSet/>
      <dgm:spPr/>
      <dgm:t>
        <a:bodyPr/>
        <a:lstStyle/>
        <a:p>
          <a:endParaRPr lang="en-US"/>
        </a:p>
      </dgm:t>
    </dgm:pt>
    <dgm:pt modelId="{C6DB4E29-4A7B-4D66-BAD2-EC0C209CAF89}" type="sibTrans" cxnId="{4763B3F7-492E-4303-8A2E-F12E8CD7D5F0}">
      <dgm:prSet/>
      <dgm:spPr/>
      <dgm:t>
        <a:bodyPr/>
        <a:lstStyle/>
        <a:p>
          <a:endParaRPr lang="en-US"/>
        </a:p>
      </dgm:t>
    </dgm:pt>
    <dgm:pt modelId="{C0F8922A-7915-4056-B727-9A54C7A857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PCA: reducción de dimensiones (simplificación e identificación de patrones).</a:t>
          </a:r>
          <a:endParaRPr lang="en-US" sz="1400" dirty="0"/>
        </a:p>
      </dgm:t>
    </dgm:pt>
    <dgm:pt modelId="{9FC95B9F-098E-4803-8ACA-C8E7BAE6E017}" type="parTrans" cxnId="{D9856FA0-1014-4E12-856B-7492C7AD3C99}">
      <dgm:prSet/>
      <dgm:spPr/>
      <dgm:t>
        <a:bodyPr/>
        <a:lstStyle/>
        <a:p>
          <a:endParaRPr lang="en-US"/>
        </a:p>
      </dgm:t>
    </dgm:pt>
    <dgm:pt modelId="{8C774633-76D0-4ADF-A41C-7BA2B314AAEE}" type="sibTrans" cxnId="{D9856FA0-1014-4E12-856B-7492C7AD3C99}">
      <dgm:prSet/>
      <dgm:spPr/>
      <dgm:t>
        <a:bodyPr/>
        <a:lstStyle/>
        <a:p>
          <a:endParaRPr lang="en-US"/>
        </a:p>
      </dgm:t>
    </dgm:pt>
    <dgm:pt modelId="{3A70D39E-D39E-4450-A6CF-F67DEE90AD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LDA y RF: clasificación supervisada (predicciones del nivel de afectación mental).</a:t>
          </a:r>
          <a:endParaRPr lang="en-US" sz="1400" dirty="0"/>
        </a:p>
      </dgm:t>
    </dgm:pt>
    <dgm:pt modelId="{A2E0DD24-82D3-40A1-AEC2-DE761D13ADD5}" type="parTrans" cxnId="{93BCE6F2-9ECA-40B4-9EE3-D7DF3D13EA4B}">
      <dgm:prSet/>
      <dgm:spPr/>
      <dgm:t>
        <a:bodyPr/>
        <a:lstStyle/>
        <a:p>
          <a:endParaRPr lang="en-US"/>
        </a:p>
      </dgm:t>
    </dgm:pt>
    <dgm:pt modelId="{75A58A78-91C8-4805-848C-1465B55D8E23}" type="sibTrans" cxnId="{93BCE6F2-9ECA-40B4-9EE3-D7DF3D13EA4B}">
      <dgm:prSet/>
      <dgm:spPr/>
      <dgm:t>
        <a:bodyPr/>
        <a:lstStyle/>
        <a:p>
          <a:endParaRPr lang="en-US"/>
        </a:p>
      </dgm:t>
    </dgm:pt>
    <dgm:pt modelId="{EDD25BA4-85A7-42DD-B748-6DB5CB1237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Clustering: clasificación no supervisada (detección de perfiles sin etiquetas previas).</a:t>
          </a:r>
        </a:p>
        <a:p>
          <a:pPr>
            <a:lnSpc>
              <a:spcPct val="100000"/>
            </a:lnSpc>
          </a:pPr>
          <a:r>
            <a:rPr lang="es-ES" sz="1400" dirty="0"/>
            <a:t>Todos los análisis se realizaron en Rstudio, empleando lenguaje R.</a:t>
          </a:r>
          <a:endParaRPr lang="en-US" sz="1400" dirty="0"/>
        </a:p>
      </dgm:t>
    </dgm:pt>
    <dgm:pt modelId="{0FA0212C-23AF-4A0E-88EF-6F8E0D2998DB}" type="parTrans" cxnId="{72449C99-2623-4148-8F0E-4D4E7E323554}">
      <dgm:prSet/>
      <dgm:spPr/>
      <dgm:t>
        <a:bodyPr/>
        <a:lstStyle/>
        <a:p>
          <a:endParaRPr lang="en-US"/>
        </a:p>
      </dgm:t>
    </dgm:pt>
    <dgm:pt modelId="{162CD6E1-95F6-41C6-960A-DAC076D53D69}" type="sibTrans" cxnId="{72449C99-2623-4148-8F0E-4D4E7E323554}">
      <dgm:prSet/>
      <dgm:spPr/>
      <dgm:t>
        <a:bodyPr/>
        <a:lstStyle/>
        <a:p>
          <a:endParaRPr lang="en-US"/>
        </a:p>
      </dgm:t>
    </dgm:pt>
    <dgm:pt modelId="{FEBC417D-305A-41BC-952E-3DA3428B86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/>
            <a:t>Enfoque:</a:t>
          </a:r>
          <a:endParaRPr lang="en-US"/>
        </a:p>
      </dgm:t>
    </dgm:pt>
    <dgm:pt modelId="{E5EA5130-6B9C-40CD-8E7C-830DDEA5DBB2}" type="parTrans" cxnId="{F64CA365-CEE9-4726-BE32-B7A855162255}">
      <dgm:prSet/>
      <dgm:spPr/>
      <dgm:t>
        <a:bodyPr/>
        <a:lstStyle/>
        <a:p>
          <a:endParaRPr lang="en-US"/>
        </a:p>
      </dgm:t>
    </dgm:pt>
    <dgm:pt modelId="{833DB20D-734A-4887-A267-7E532021AC08}" type="sibTrans" cxnId="{F64CA365-CEE9-4726-BE32-B7A855162255}">
      <dgm:prSet/>
      <dgm:spPr/>
      <dgm:t>
        <a:bodyPr/>
        <a:lstStyle/>
        <a:p>
          <a:endParaRPr lang="en-US"/>
        </a:p>
      </dgm:t>
    </dgm:pt>
    <dgm:pt modelId="{03A0BCA6-4D92-40D0-81CB-C50B6AFE022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Análisis previo de los datos: limpieza y agrupación de variables.</a:t>
          </a:r>
        </a:p>
        <a:p>
          <a:pPr>
            <a:lnSpc>
              <a:spcPct val="100000"/>
            </a:lnSpc>
          </a:pPr>
          <a:r>
            <a:rPr lang="es-ES" sz="1400" dirty="0"/>
            <a:t>Análisis individual por comunidad autónoma: para evitar el sesgo por desigualdad muestral.</a:t>
          </a:r>
          <a:endParaRPr lang="en-US" sz="1400" dirty="0"/>
        </a:p>
      </dgm:t>
    </dgm:pt>
    <dgm:pt modelId="{8BB808C9-75B1-497C-AD87-D8041EA4D46E}" type="parTrans" cxnId="{A1C2D9C8-C49F-4CB1-92F2-BF4BCECFFB36}">
      <dgm:prSet/>
      <dgm:spPr/>
      <dgm:t>
        <a:bodyPr/>
        <a:lstStyle/>
        <a:p>
          <a:endParaRPr lang="en-US"/>
        </a:p>
      </dgm:t>
    </dgm:pt>
    <dgm:pt modelId="{2BE510B0-9CE6-41BA-8838-B28D4C862CDC}" type="sibTrans" cxnId="{A1C2D9C8-C49F-4CB1-92F2-BF4BCECFFB36}">
      <dgm:prSet/>
      <dgm:spPr/>
      <dgm:t>
        <a:bodyPr/>
        <a:lstStyle/>
        <a:p>
          <a:endParaRPr lang="en-US"/>
        </a:p>
      </dgm:t>
    </dgm:pt>
    <dgm:pt modelId="{C5750C04-368C-4F5E-AB31-EACD607DAA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dirty="0"/>
            <a:t>Comparación regional para identificar diferencias territoriales.</a:t>
          </a:r>
          <a:endParaRPr lang="en-US" sz="1400" dirty="0"/>
        </a:p>
      </dgm:t>
    </dgm:pt>
    <dgm:pt modelId="{20243B10-9804-41DA-95B3-E9242843DD86}" type="parTrans" cxnId="{0D555446-770A-475D-A32C-D48989F8BE0A}">
      <dgm:prSet/>
      <dgm:spPr/>
      <dgm:t>
        <a:bodyPr/>
        <a:lstStyle/>
        <a:p>
          <a:endParaRPr lang="en-US"/>
        </a:p>
      </dgm:t>
    </dgm:pt>
    <dgm:pt modelId="{43D98080-ADD1-43EB-AD5D-5CEAC2398319}" type="sibTrans" cxnId="{0D555446-770A-475D-A32C-D48989F8BE0A}">
      <dgm:prSet/>
      <dgm:spPr/>
      <dgm:t>
        <a:bodyPr/>
        <a:lstStyle/>
        <a:p>
          <a:endParaRPr lang="en-US"/>
        </a:p>
      </dgm:t>
    </dgm:pt>
    <dgm:pt modelId="{917B614A-96D9-40A9-B32C-6C5F4A41DDB4}" type="pres">
      <dgm:prSet presAssocID="{3E7ACAA6-0438-4B13-88EF-10C041799FCE}" presName="root" presStyleCnt="0">
        <dgm:presLayoutVars>
          <dgm:dir/>
          <dgm:resizeHandles val="exact"/>
        </dgm:presLayoutVars>
      </dgm:prSet>
      <dgm:spPr/>
    </dgm:pt>
    <dgm:pt modelId="{4E469B13-9454-4DC6-8482-01D7ABB9F9B0}" type="pres">
      <dgm:prSet presAssocID="{D70A0AEA-E6FF-47DD-9BF7-D2F3FE467CA5}" presName="compNode" presStyleCnt="0"/>
      <dgm:spPr/>
    </dgm:pt>
    <dgm:pt modelId="{C864DD07-FB8C-431E-969C-8D8F49E811AD}" type="pres">
      <dgm:prSet presAssocID="{D70A0AEA-E6FF-47DD-9BF7-D2F3FE467C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</dgm:spPr>
      <dgm:extLst>
        <a:ext uri="{E40237B7-FDA0-4F09-8148-C483321AD2D9}">
          <dgm14:cNvPr xmlns:dgm14="http://schemas.microsoft.com/office/drawing/2010/diagram" id="0" name="" descr="Gráfico circular con relleno sólido"/>
        </a:ext>
      </dgm:extLst>
    </dgm:pt>
    <dgm:pt modelId="{753B9A94-3470-4617-B75B-09558BA94439}" type="pres">
      <dgm:prSet presAssocID="{D70A0AEA-E6FF-47DD-9BF7-D2F3FE467CA5}" presName="iconSpace" presStyleCnt="0"/>
      <dgm:spPr/>
    </dgm:pt>
    <dgm:pt modelId="{A9CAF95C-502E-45F4-94A3-2E40F8F4D76F}" type="pres">
      <dgm:prSet presAssocID="{D70A0AEA-E6FF-47DD-9BF7-D2F3FE467CA5}" presName="parTx" presStyleLbl="revTx" presStyleIdx="0" presStyleCnt="8">
        <dgm:presLayoutVars>
          <dgm:chMax val="0"/>
          <dgm:chPref val="0"/>
        </dgm:presLayoutVars>
      </dgm:prSet>
      <dgm:spPr/>
    </dgm:pt>
    <dgm:pt modelId="{E568A654-9466-484F-9300-94D4EEB9307F}" type="pres">
      <dgm:prSet presAssocID="{D70A0AEA-E6FF-47DD-9BF7-D2F3FE467CA5}" presName="txSpace" presStyleCnt="0"/>
      <dgm:spPr/>
    </dgm:pt>
    <dgm:pt modelId="{EEBD9565-B3F2-4C2D-88A2-C0CA6082C468}" type="pres">
      <dgm:prSet presAssocID="{D70A0AEA-E6FF-47DD-9BF7-D2F3FE467CA5}" presName="desTx" presStyleLbl="revTx" presStyleIdx="1" presStyleCnt="8">
        <dgm:presLayoutVars/>
      </dgm:prSet>
      <dgm:spPr/>
    </dgm:pt>
    <dgm:pt modelId="{34D8E778-F833-4BB2-AA1F-B94BA88298F3}" type="pres">
      <dgm:prSet presAssocID="{13C2A0D7-F0FC-490B-ACB1-672BA4D18220}" presName="sibTrans" presStyleCnt="0"/>
      <dgm:spPr/>
    </dgm:pt>
    <dgm:pt modelId="{BA0E58B1-6908-49E3-A504-4068394919CF}" type="pres">
      <dgm:prSet presAssocID="{523C9BDF-D639-461D-8FCF-6D4E89CA9B39}" presName="compNode" presStyleCnt="0"/>
      <dgm:spPr/>
    </dgm:pt>
    <dgm:pt modelId="{E6AB12FF-A9AD-4CBE-A035-BF40D20470CF}" type="pres">
      <dgm:prSet presAssocID="{523C9BDF-D639-461D-8FCF-6D4E89CA9B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81071FF-87FC-439F-872B-256AB21A3736}" type="pres">
      <dgm:prSet presAssocID="{523C9BDF-D639-461D-8FCF-6D4E89CA9B39}" presName="iconSpace" presStyleCnt="0"/>
      <dgm:spPr/>
    </dgm:pt>
    <dgm:pt modelId="{8C833711-6EAC-47CD-979D-DD7252D31249}" type="pres">
      <dgm:prSet presAssocID="{523C9BDF-D639-461D-8FCF-6D4E89CA9B39}" presName="parTx" presStyleLbl="revTx" presStyleIdx="2" presStyleCnt="8">
        <dgm:presLayoutVars>
          <dgm:chMax val="0"/>
          <dgm:chPref val="0"/>
        </dgm:presLayoutVars>
      </dgm:prSet>
      <dgm:spPr/>
    </dgm:pt>
    <dgm:pt modelId="{09421D5D-3B97-4742-A573-C9F50A14BFB1}" type="pres">
      <dgm:prSet presAssocID="{523C9BDF-D639-461D-8FCF-6D4E89CA9B39}" presName="txSpace" presStyleCnt="0"/>
      <dgm:spPr/>
    </dgm:pt>
    <dgm:pt modelId="{3539968F-8AC7-401F-B80A-B5052F442BC1}" type="pres">
      <dgm:prSet presAssocID="{523C9BDF-D639-461D-8FCF-6D4E89CA9B39}" presName="desTx" presStyleLbl="revTx" presStyleIdx="3" presStyleCnt="8">
        <dgm:presLayoutVars/>
      </dgm:prSet>
      <dgm:spPr/>
    </dgm:pt>
    <dgm:pt modelId="{C1A4B00A-65AC-4773-A4A5-73544E5E2BE9}" type="pres">
      <dgm:prSet presAssocID="{FD7D5038-86F7-4B54-90F7-9DCE19137A0C}" presName="sibTrans" presStyleCnt="0"/>
      <dgm:spPr/>
    </dgm:pt>
    <dgm:pt modelId="{1A78B331-7B75-4963-BDE5-1CAF8C55AFDF}" type="pres">
      <dgm:prSet presAssocID="{9F6121A1-E4E1-4B4B-8086-B36F645BD514}" presName="compNode" presStyleCnt="0"/>
      <dgm:spPr/>
    </dgm:pt>
    <dgm:pt modelId="{CCF2005D-C706-4554-A218-725CBE6B9CE6}" type="pres">
      <dgm:prSet presAssocID="{9F6121A1-E4E1-4B4B-8086-B36F645BD5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F828970-8DE0-48B3-8028-93B06C7C453B}" type="pres">
      <dgm:prSet presAssocID="{9F6121A1-E4E1-4B4B-8086-B36F645BD514}" presName="iconSpace" presStyleCnt="0"/>
      <dgm:spPr/>
    </dgm:pt>
    <dgm:pt modelId="{BDC48F2E-1A91-4276-A78D-B3D218C8D280}" type="pres">
      <dgm:prSet presAssocID="{9F6121A1-E4E1-4B4B-8086-B36F645BD514}" presName="parTx" presStyleLbl="revTx" presStyleIdx="4" presStyleCnt="8">
        <dgm:presLayoutVars>
          <dgm:chMax val="0"/>
          <dgm:chPref val="0"/>
        </dgm:presLayoutVars>
      </dgm:prSet>
      <dgm:spPr/>
    </dgm:pt>
    <dgm:pt modelId="{DA0C2957-0B72-4C66-AF61-97B3562B031F}" type="pres">
      <dgm:prSet presAssocID="{9F6121A1-E4E1-4B4B-8086-B36F645BD514}" presName="txSpace" presStyleCnt="0"/>
      <dgm:spPr/>
    </dgm:pt>
    <dgm:pt modelId="{88209E21-E7AB-415A-A7EF-A843627760D9}" type="pres">
      <dgm:prSet presAssocID="{9F6121A1-E4E1-4B4B-8086-B36F645BD514}" presName="desTx" presStyleLbl="revTx" presStyleIdx="5" presStyleCnt="8" custScaleY="100878" custLinFactNeighborX="582" custLinFactNeighborY="-32831">
        <dgm:presLayoutVars/>
      </dgm:prSet>
      <dgm:spPr/>
    </dgm:pt>
    <dgm:pt modelId="{1BDF31D7-B1CE-4514-8C8D-7EBDB84F9428}" type="pres">
      <dgm:prSet presAssocID="{C6DB4E29-4A7B-4D66-BAD2-EC0C209CAF89}" presName="sibTrans" presStyleCnt="0"/>
      <dgm:spPr/>
    </dgm:pt>
    <dgm:pt modelId="{0596F6D6-922D-49C9-8A4B-D69B323E3C3A}" type="pres">
      <dgm:prSet presAssocID="{FEBC417D-305A-41BC-952E-3DA3428B8601}" presName="compNode" presStyleCnt="0"/>
      <dgm:spPr/>
    </dgm:pt>
    <dgm:pt modelId="{2E2DCCF1-641D-429A-AA46-EB9DE3B314F7}" type="pres">
      <dgm:prSet presAssocID="{FEBC417D-305A-41BC-952E-3DA3428B86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D8D8306-10FC-48F4-A886-A28EB496D25D}" type="pres">
      <dgm:prSet presAssocID="{FEBC417D-305A-41BC-952E-3DA3428B8601}" presName="iconSpace" presStyleCnt="0"/>
      <dgm:spPr/>
    </dgm:pt>
    <dgm:pt modelId="{060FA0F9-2C41-4E5E-8EEB-C06B865FB007}" type="pres">
      <dgm:prSet presAssocID="{FEBC417D-305A-41BC-952E-3DA3428B8601}" presName="parTx" presStyleLbl="revTx" presStyleIdx="6" presStyleCnt="8">
        <dgm:presLayoutVars>
          <dgm:chMax val="0"/>
          <dgm:chPref val="0"/>
        </dgm:presLayoutVars>
      </dgm:prSet>
      <dgm:spPr/>
    </dgm:pt>
    <dgm:pt modelId="{75300480-B544-440D-980E-6CA008B8B48E}" type="pres">
      <dgm:prSet presAssocID="{FEBC417D-305A-41BC-952E-3DA3428B8601}" presName="txSpace" presStyleCnt="0"/>
      <dgm:spPr/>
    </dgm:pt>
    <dgm:pt modelId="{E05E6CCC-0E02-462C-9B5C-83A933F9A28C}" type="pres">
      <dgm:prSet presAssocID="{FEBC417D-305A-41BC-952E-3DA3428B8601}" presName="desTx" presStyleLbl="revTx" presStyleIdx="7" presStyleCnt="8" custLinFactNeighborX="-4762" custLinFactNeighborY="-32831">
        <dgm:presLayoutVars/>
      </dgm:prSet>
      <dgm:spPr/>
    </dgm:pt>
  </dgm:ptLst>
  <dgm:cxnLst>
    <dgm:cxn modelId="{6D19FB0B-EFAA-4D28-850F-C7FB0C84BF3B}" srcId="{3E7ACAA6-0438-4B13-88EF-10C041799FCE}" destId="{523C9BDF-D639-461D-8FCF-6D4E89CA9B39}" srcOrd="1" destOrd="0" parTransId="{EAB7BED0-F3AE-4029-8C71-AE9DD7F5027A}" sibTransId="{FD7D5038-86F7-4B54-90F7-9DCE19137A0C}"/>
    <dgm:cxn modelId="{3262BA1E-FE66-4B76-A618-DC52F7D5AE7F}" srcId="{3E7ACAA6-0438-4B13-88EF-10C041799FCE}" destId="{D70A0AEA-E6FF-47DD-9BF7-D2F3FE467CA5}" srcOrd="0" destOrd="0" parTransId="{04F6F9C5-9DF1-4CE2-BE0E-7DE477A37333}" sibTransId="{13C2A0D7-F0FC-490B-ACB1-672BA4D18220}"/>
    <dgm:cxn modelId="{F64CA365-CEE9-4726-BE32-B7A855162255}" srcId="{3E7ACAA6-0438-4B13-88EF-10C041799FCE}" destId="{FEBC417D-305A-41BC-952E-3DA3428B8601}" srcOrd="3" destOrd="0" parTransId="{E5EA5130-6B9C-40CD-8E7C-830DDEA5DBB2}" sibTransId="{833DB20D-734A-4887-A267-7E532021AC08}"/>
    <dgm:cxn modelId="{0D555446-770A-475D-A32C-D48989F8BE0A}" srcId="{FEBC417D-305A-41BC-952E-3DA3428B8601}" destId="{C5750C04-368C-4F5E-AB31-EACD607DAA94}" srcOrd="1" destOrd="0" parTransId="{20243B10-9804-41DA-95B3-E9242843DD86}" sibTransId="{43D98080-ADD1-43EB-AD5D-5CEAC2398319}"/>
    <dgm:cxn modelId="{71525252-209F-482D-9508-A5BDF39D791A}" type="presOf" srcId="{523C9BDF-D639-461D-8FCF-6D4E89CA9B39}" destId="{8C833711-6EAC-47CD-979D-DD7252D31249}" srcOrd="0" destOrd="0" presId="urn:microsoft.com/office/officeart/2018/5/layout/CenteredIconLabelDescriptionList"/>
    <dgm:cxn modelId="{250D2D78-AC84-4723-8CF2-74E3FA21F1E6}" type="presOf" srcId="{D70A0AEA-E6FF-47DD-9BF7-D2F3FE467CA5}" destId="{A9CAF95C-502E-45F4-94A3-2E40F8F4D76F}" srcOrd="0" destOrd="0" presId="urn:microsoft.com/office/officeart/2018/5/layout/CenteredIconLabelDescriptionList"/>
    <dgm:cxn modelId="{72449C99-2623-4148-8F0E-4D4E7E323554}" srcId="{9F6121A1-E4E1-4B4B-8086-B36F645BD514}" destId="{EDD25BA4-85A7-42DD-B748-6DB5CB12376E}" srcOrd="2" destOrd="0" parTransId="{0FA0212C-23AF-4A0E-88EF-6F8E0D2998DB}" sibTransId="{162CD6E1-95F6-41C6-960A-DAC076D53D69}"/>
    <dgm:cxn modelId="{D9856FA0-1014-4E12-856B-7492C7AD3C99}" srcId="{9F6121A1-E4E1-4B4B-8086-B36F645BD514}" destId="{C0F8922A-7915-4056-B727-9A54C7A85743}" srcOrd="0" destOrd="0" parTransId="{9FC95B9F-098E-4803-8ACA-C8E7BAE6E017}" sibTransId="{8C774633-76D0-4ADF-A41C-7BA2B314AAEE}"/>
    <dgm:cxn modelId="{8FC315B1-9F0F-4AFF-99C3-39920A25230F}" type="presOf" srcId="{C5750C04-368C-4F5E-AB31-EACD607DAA94}" destId="{E05E6CCC-0E02-462C-9B5C-83A933F9A28C}" srcOrd="0" destOrd="1" presId="urn:microsoft.com/office/officeart/2018/5/layout/CenteredIconLabelDescriptionList"/>
    <dgm:cxn modelId="{354B6AB2-C50F-4CD7-86B6-EF438563CACD}" type="presOf" srcId="{FEBC417D-305A-41BC-952E-3DA3428B8601}" destId="{060FA0F9-2C41-4E5E-8EEB-C06B865FB007}" srcOrd="0" destOrd="0" presId="urn:microsoft.com/office/officeart/2018/5/layout/CenteredIconLabelDescriptionList"/>
    <dgm:cxn modelId="{B1B968C4-AF85-4405-A192-46B7DDDCE0FC}" type="presOf" srcId="{EDD25BA4-85A7-42DD-B748-6DB5CB12376E}" destId="{88209E21-E7AB-415A-A7EF-A843627760D9}" srcOrd="0" destOrd="2" presId="urn:microsoft.com/office/officeart/2018/5/layout/CenteredIconLabelDescriptionList"/>
    <dgm:cxn modelId="{A1C2D9C8-C49F-4CB1-92F2-BF4BCECFFB36}" srcId="{FEBC417D-305A-41BC-952E-3DA3428B8601}" destId="{03A0BCA6-4D92-40D0-81CB-C50B6AFE0224}" srcOrd="0" destOrd="0" parTransId="{8BB808C9-75B1-497C-AD87-D8041EA4D46E}" sibTransId="{2BE510B0-9CE6-41BA-8838-B28D4C862CDC}"/>
    <dgm:cxn modelId="{064001D2-F001-4C96-AF6D-FF038DF1DD97}" type="presOf" srcId="{C0F8922A-7915-4056-B727-9A54C7A85743}" destId="{88209E21-E7AB-415A-A7EF-A843627760D9}" srcOrd="0" destOrd="0" presId="urn:microsoft.com/office/officeart/2018/5/layout/CenteredIconLabelDescriptionList"/>
    <dgm:cxn modelId="{80E086EC-9384-41CB-84D1-BAE7E3E8A42B}" type="presOf" srcId="{03A0BCA6-4D92-40D0-81CB-C50B6AFE0224}" destId="{E05E6CCC-0E02-462C-9B5C-83A933F9A28C}" srcOrd="0" destOrd="0" presId="urn:microsoft.com/office/officeart/2018/5/layout/CenteredIconLabelDescriptionList"/>
    <dgm:cxn modelId="{31889EEC-6064-44E7-8B0A-25CD62B915BB}" type="presOf" srcId="{9F6121A1-E4E1-4B4B-8086-B36F645BD514}" destId="{BDC48F2E-1A91-4276-A78D-B3D218C8D280}" srcOrd="0" destOrd="0" presId="urn:microsoft.com/office/officeart/2018/5/layout/CenteredIconLabelDescriptionList"/>
    <dgm:cxn modelId="{B8D08BF2-B546-49CF-B7FF-531F8AB30EC7}" type="presOf" srcId="{3E7ACAA6-0438-4B13-88EF-10C041799FCE}" destId="{917B614A-96D9-40A9-B32C-6C5F4A41DDB4}" srcOrd="0" destOrd="0" presId="urn:microsoft.com/office/officeart/2018/5/layout/CenteredIconLabelDescriptionList"/>
    <dgm:cxn modelId="{93BCE6F2-9ECA-40B4-9EE3-D7DF3D13EA4B}" srcId="{9F6121A1-E4E1-4B4B-8086-B36F645BD514}" destId="{3A70D39E-D39E-4450-A6CF-F67DEE90AD22}" srcOrd="1" destOrd="0" parTransId="{A2E0DD24-82D3-40A1-AEC2-DE761D13ADD5}" sibTransId="{75A58A78-91C8-4805-848C-1465B55D8E23}"/>
    <dgm:cxn modelId="{4763B3F7-492E-4303-8A2E-F12E8CD7D5F0}" srcId="{3E7ACAA6-0438-4B13-88EF-10C041799FCE}" destId="{9F6121A1-E4E1-4B4B-8086-B36F645BD514}" srcOrd="2" destOrd="0" parTransId="{D172031A-1BBE-4ADC-9FE5-9AB55136F651}" sibTransId="{C6DB4E29-4A7B-4D66-BAD2-EC0C209CAF89}"/>
    <dgm:cxn modelId="{5456D2F9-5428-490A-874C-086DBE80DD79}" type="presOf" srcId="{3A70D39E-D39E-4450-A6CF-F67DEE90AD22}" destId="{88209E21-E7AB-415A-A7EF-A843627760D9}" srcOrd="0" destOrd="1" presId="urn:microsoft.com/office/officeart/2018/5/layout/CenteredIconLabelDescriptionList"/>
    <dgm:cxn modelId="{A233BA69-5ED2-4D09-97B0-5768718D25DB}" type="presParOf" srcId="{917B614A-96D9-40A9-B32C-6C5F4A41DDB4}" destId="{4E469B13-9454-4DC6-8482-01D7ABB9F9B0}" srcOrd="0" destOrd="0" presId="urn:microsoft.com/office/officeart/2018/5/layout/CenteredIconLabelDescriptionList"/>
    <dgm:cxn modelId="{805E92C2-CD3B-440C-AC1F-DF5C868B69E5}" type="presParOf" srcId="{4E469B13-9454-4DC6-8482-01D7ABB9F9B0}" destId="{C864DD07-FB8C-431E-969C-8D8F49E811AD}" srcOrd="0" destOrd="0" presId="urn:microsoft.com/office/officeart/2018/5/layout/CenteredIconLabelDescriptionList"/>
    <dgm:cxn modelId="{34A10FE7-CDF8-42BD-8037-3C3BBFAE4AE3}" type="presParOf" srcId="{4E469B13-9454-4DC6-8482-01D7ABB9F9B0}" destId="{753B9A94-3470-4617-B75B-09558BA94439}" srcOrd="1" destOrd="0" presId="urn:microsoft.com/office/officeart/2018/5/layout/CenteredIconLabelDescriptionList"/>
    <dgm:cxn modelId="{EDCF621A-4416-43B8-A293-5855BBBADD62}" type="presParOf" srcId="{4E469B13-9454-4DC6-8482-01D7ABB9F9B0}" destId="{A9CAF95C-502E-45F4-94A3-2E40F8F4D76F}" srcOrd="2" destOrd="0" presId="urn:microsoft.com/office/officeart/2018/5/layout/CenteredIconLabelDescriptionList"/>
    <dgm:cxn modelId="{73B39093-7F2E-479E-8812-C716FAA5BCE4}" type="presParOf" srcId="{4E469B13-9454-4DC6-8482-01D7ABB9F9B0}" destId="{E568A654-9466-484F-9300-94D4EEB9307F}" srcOrd="3" destOrd="0" presId="urn:microsoft.com/office/officeart/2018/5/layout/CenteredIconLabelDescriptionList"/>
    <dgm:cxn modelId="{28CD5035-672B-4972-A60C-69E54637D37E}" type="presParOf" srcId="{4E469B13-9454-4DC6-8482-01D7ABB9F9B0}" destId="{EEBD9565-B3F2-4C2D-88A2-C0CA6082C468}" srcOrd="4" destOrd="0" presId="urn:microsoft.com/office/officeart/2018/5/layout/CenteredIconLabelDescriptionList"/>
    <dgm:cxn modelId="{83011066-8C99-4968-88FC-381FCD773EE5}" type="presParOf" srcId="{917B614A-96D9-40A9-B32C-6C5F4A41DDB4}" destId="{34D8E778-F833-4BB2-AA1F-B94BA88298F3}" srcOrd="1" destOrd="0" presId="urn:microsoft.com/office/officeart/2018/5/layout/CenteredIconLabelDescriptionList"/>
    <dgm:cxn modelId="{D63AB616-1FD4-45A0-9391-FB035FDC0294}" type="presParOf" srcId="{917B614A-96D9-40A9-B32C-6C5F4A41DDB4}" destId="{BA0E58B1-6908-49E3-A504-4068394919CF}" srcOrd="2" destOrd="0" presId="urn:microsoft.com/office/officeart/2018/5/layout/CenteredIconLabelDescriptionList"/>
    <dgm:cxn modelId="{F763EC12-CE8A-45F9-93E6-9A3A781558FD}" type="presParOf" srcId="{BA0E58B1-6908-49E3-A504-4068394919CF}" destId="{E6AB12FF-A9AD-4CBE-A035-BF40D20470CF}" srcOrd="0" destOrd="0" presId="urn:microsoft.com/office/officeart/2018/5/layout/CenteredIconLabelDescriptionList"/>
    <dgm:cxn modelId="{A2793DCE-8136-476D-A747-31EB9AF5CBA9}" type="presParOf" srcId="{BA0E58B1-6908-49E3-A504-4068394919CF}" destId="{481071FF-87FC-439F-872B-256AB21A3736}" srcOrd="1" destOrd="0" presId="urn:microsoft.com/office/officeart/2018/5/layout/CenteredIconLabelDescriptionList"/>
    <dgm:cxn modelId="{422C14EE-175B-47ED-BB79-EB846851E04A}" type="presParOf" srcId="{BA0E58B1-6908-49E3-A504-4068394919CF}" destId="{8C833711-6EAC-47CD-979D-DD7252D31249}" srcOrd="2" destOrd="0" presId="urn:microsoft.com/office/officeart/2018/5/layout/CenteredIconLabelDescriptionList"/>
    <dgm:cxn modelId="{A7CBBBC6-2820-491F-8F7D-F5D29E2AA4A6}" type="presParOf" srcId="{BA0E58B1-6908-49E3-A504-4068394919CF}" destId="{09421D5D-3B97-4742-A573-C9F50A14BFB1}" srcOrd="3" destOrd="0" presId="urn:microsoft.com/office/officeart/2018/5/layout/CenteredIconLabelDescriptionList"/>
    <dgm:cxn modelId="{C3087A2B-96C3-49C5-A39F-570B3AE2EBC5}" type="presParOf" srcId="{BA0E58B1-6908-49E3-A504-4068394919CF}" destId="{3539968F-8AC7-401F-B80A-B5052F442BC1}" srcOrd="4" destOrd="0" presId="urn:microsoft.com/office/officeart/2018/5/layout/CenteredIconLabelDescriptionList"/>
    <dgm:cxn modelId="{A8790EFA-9300-45FB-888D-AFF884C982F8}" type="presParOf" srcId="{917B614A-96D9-40A9-B32C-6C5F4A41DDB4}" destId="{C1A4B00A-65AC-4773-A4A5-73544E5E2BE9}" srcOrd="3" destOrd="0" presId="urn:microsoft.com/office/officeart/2018/5/layout/CenteredIconLabelDescriptionList"/>
    <dgm:cxn modelId="{98AC50C3-71B7-4A49-B033-28B2242099EA}" type="presParOf" srcId="{917B614A-96D9-40A9-B32C-6C5F4A41DDB4}" destId="{1A78B331-7B75-4963-BDE5-1CAF8C55AFDF}" srcOrd="4" destOrd="0" presId="urn:microsoft.com/office/officeart/2018/5/layout/CenteredIconLabelDescriptionList"/>
    <dgm:cxn modelId="{5EDA03C2-C71A-4936-BBFC-8EF90159A70C}" type="presParOf" srcId="{1A78B331-7B75-4963-BDE5-1CAF8C55AFDF}" destId="{CCF2005D-C706-4554-A218-725CBE6B9CE6}" srcOrd="0" destOrd="0" presId="urn:microsoft.com/office/officeart/2018/5/layout/CenteredIconLabelDescriptionList"/>
    <dgm:cxn modelId="{1785F4EA-B513-4F3D-B9AE-136317A101FC}" type="presParOf" srcId="{1A78B331-7B75-4963-BDE5-1CAF8C55AFDF}" destId="{CF828970-8DE0-48B3-8028-93B06C7C453B}" srcOrd="1" destOrd="0" presId="urn:microsoft.com/office/officeart/2018/5/layout/CenteredIconLabelDescriptionList"/>
    <dgm:cxn modelId="{7F505E81-2AE4-40BC-9529-759DFC1A3FDB}" type="presParOf" srcId="{1A78B331-7B75-4963-BDE5-1CAF8C55AFDF}" destId="{BDC48F2E-1A91-4276-A78D-B3D218C8D280}" srcOrd="2" destOrd="0" presId="urn:microsoft.com/office/officeart/2018/5/layout/CenteredIconLabelDescriptionList"/>
    <dgm:cxn modelId="{04A205B7-AFC8-4BB4-883E-C805BEE8B794}" type="presParOf" srcId="{1A78B331-7B75-4963-BDE5-1CAF8C55AFDF}" destId="{DA0C2957-0B72-4C66-AF61-97B3562B031F}" srcOrd="3" destOrd="0" presId="urn:microsoft.com/office/officeart/2018/5/layout/CenteredIconLabelDescriptionList"/>
    <dgm:cxn modelId="{6616E3BC-AFF4-4DEA-B917-EC5F907CD663}" type="presParOf" srcId="{1A78B331-7B75-4963-BDE5-1CAF8C55AFDF}" destId="{88209E21-E7AB-415A-A7EF-A843627760D9}" srcOrd="4" destOrd="0" presId="urn:microsoft.com/office/officeart/2018/5/layout/CenteredIconLabelDescriptionList"/>
    <dgm:cxn modelId="{D30CA0AD-4AB7-4C38-9CFD-882BBD8D6C62}" type="presParOf" srcId="{917B614A-96D9-40A9-B32C-6C5F4A41DDB4}" destId="{1BDF31D7-B1CE-4514-8C8D-7EBDB84F9428}" srcOrd="5" destOrd="0" presId="urn:microsoft.com/office/officeart/2018/5/layout/CenteredIconLabelDescriptionList"/>
    <dgm:cxn modelId="{01846A93-8C1E-40D6-855C-30C428BB570E}" type="presParOf" srcId="{917B614A-96D9-40A9-B32C-6C5F4A41DDB4}" destId="{0596F6D6-922D-49C9-8A4B-D69B323E3C3A}" srcOrd="6" destOrd="0" presId="urn:microsoft.com/office/officeart/2018/5/layout/CenteredIconLabelDescriptionList"/>
    <dgm:cxn modelId="{CA434507-10E0-42D1-8207-6B7B46E2FB88}" type="presParOf" srcId="{0596F6D6-922D-49C9-8A4B-D69B323E3C3A}" destId="{2E2DCCF1-641D-429A-AA46-EB9DE3B314F7}" srcOrd="0" destOrd="0" presId="urn:microsoft.com/office/officeart/2018/5/layout/CenteredIconLabelDescriptionList"/>
    <dgm:cxn modelId="{9B9CC3CF-33BD-4639-9483-0A0DC78F90F7}" type="presParOf" srcId="{0596F6D6-922D-49C9-8A4B-D69B323E3C3A}" destId="{1D8D8306-10FC-48F4-A886-A28EB496D25D}" srcOrd="1" destOrd="0" presId="urn:microsoft.com/office/officeart/2018/5/layout/CenteredIconLabelDescriptionList"/>
    <dgm:cxn modelId="{BC8E73F5-BE8E-4FF2-AAD6-C5FE13EE210B}" type="presParOf" srcId="{0596F6D6-922D-49C9-8A4B-D69B323E3C3A}" destId="{060FA0F9-2C41-4E5E-8EEB-C06B865FB007}" srcOrd="2" destOrd="0" presId="urn:microsoft.com/office/officeart/2018/5/layout/CenteredIconLabelDescriptionList"/>
    <dgm:cxn modelId="{2427FA1C-CC30-4E92-B9FD-937045286B16}" type="presParOf" srcId="{0596F6D6-922D-49C9-8A4B-D69B323E3C3A}" destId="{75300480-B544-440D-980E-6CA008B8B48E}" srcOrd="3" destOrd="0" presId="urn:microsoft.com/office/officeart/2018/5/layout/CenteredIconLabelDescriptionList"/>
    <dgm:cxn modelId="{28A5C8F1-547E-48E2-9B06-D646A4B7AEAE}" type="presParOf" srcId="{0596F6D6-922D-49C9-8A4B-D69B323E3C3A}" destId="{E05E6CCC-0E02-462C-9B5C-83A933F9A2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E532C-0B1A-4744-88C3-E695B9C48446}">
      <dsp:nvSpPr>
        <dsp:cNvPr id="0" name=""/>
        <dsp:cNvSpPr/>
      </dsp:nvSpPr>
      <dsp:spPr>
        <a:xfrm>
          <a:off x="0" y="709959"/>
          <a:ext cx="10515600" cy="13028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F048F-9CE0-4CD9-B9DE-CB353AC38BFB}">
      <dsp:nvSpPr>
        <dsp:cNvPr id="0" name=""/>
        <dsp:cNvSpPr/>
      </dsp:nvSpPr>
      <dsp:spPr>
        <a:xfrm>
          <a:off x="394113" y="1003101"/>
          <a:ext cx="716569" cy="716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5BF05-687C-45E0-A44A-11F9B57BDF84}">
      <dsp:nvSpPr>
        <dsp:cNvPr id="0" name=""/>
        <dsp:cNvSpPr/>
      </dsp:nvSpPr>
      <dsp:spPr>
        <a:xfrm>
          <a:off x="1504795" y="709959"/>
          <a:ext cx="4732020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0" kern="1200" dirty="0"/>
            <a:t>Objetivo general:</a:t>
          </a:r>
          <a:endParaRPr lang="en-US" sz="2400" b="0" kern="1200" dirty="0"/>
        </a:p>
      </dsp:txBody>
      <dsp:txXfrm>
        <a:off x="1504795" y="709959"/>
        <a:ext cx="4732020" cy="1302853"/>
      </dsp:txXfrm>
    </dsp:sp>
    <dsp:sp modelId="{BFA0DA50-2F92-47A1-8D02-84CD7CABC38F}">
      <dsp:nvSpPr>
        <dsp:cNvPr id="0" name=""/>
        <dsp:cNvSpPr/>
      </dsp:nvSpPr>
      <dsp:spPr>
        <a:xfrm>
          <a:off x="6236815" y="709959"/>
          <a:ext cx="4277313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Analizar el impacto de la pandemia en la salud mental de la población española centrándose en cinco comunidades autónomas (Andalucía, Castilla y León, Galicia, Madrid y País Vasco), mediante técnicas de análisis multivariantes.</a:t>
          </a:r>
          <a:endParaRPr lang="en-US" sz="1400" kern="1200" dirty="0"/>
        </a:p>
      </dsp:txBody>
      <dsp:txXfrm>
        <a:off x="6236815" y="709959"/>
        <a:ext cx="4277313" cy="1302853"/>
      </dsp:txXfrm>
    </dsp:sp>
    <dsp:sp modelId="{57BB2CAB-D179-4C3A-946B-47771D024EAD}">
      <dsp:nvSpPr>
        <dsp:cNvPr id="0" name=""/>
        <dsp:cNvSpPr/>
      </dsp:nvSpPr>
      <dsp:spPr>
        <a:xfrm>
          <a:off x="0" y="2339131"/>
          <a:ext cx="10515600" cy="13016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09C0B-57E7-4B77-A41D-DCB0D3044F60}">
      <dsp:nvSpPr>
        <dsp:cNvPr id="0" name=""/>
        <dsp:cNvSpPr/>
      </dsp:nvSpPr>
      <dsp:spPr>
        <a:xfrm>
          <a:off x="394113" y="2631667"/>
          <a:ext cx="716569" cy="716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39E5A-9C30-44C3-8ADA-CF164BED656F}">
      <dsp:nvSpPr>
        <dsp:cNvPr id="0" name=""/>
        <dsp:cNvSpPr/>
      </dsp:nvSpPr>
      <dsp:spPr>
        <a:xfrm>
          <a:off x="1504795" y="2338525"/>
          <a:ext cx="4732020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0" kern="1200" dirty="0"/>
            <a:t>Objetivos específicos:</a:t>
          </a:r>
          <a:endParaRPr lang="en-US" sz="2400" b="0" kern="1200" dirty="0"/>
        </a:p>
      </dsp:txBody>
      <dsp:txXfrm>
        <a:off x="1504795" y="2338525"/>
        <a:ext cx="4732020" cy="1302853"/>
      </dsp:txXfrm>
    </dsp:sp>
    <dsp:sp modelId="{483E91BD-8FE9-4842-90FE-033C3897869C}">
      <dsp:nvSpPr>
        <dsp:cNvPr id="0" name=""/>
        <dsp:cNvSpPr/>
      </dsp:nvSpPr>
      <dsp:spPr>
        <a:xfrm>
          <a:off x="6236815" y="2338525"/>
          <a:ext cx="4277313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Identificar patrones comunes.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Clasificar los distintos niveles de afectación.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Definir perfiles sociodemográficos afectados.</a:t>
          </a:r>
          <a:endParaRPr lang="en-US" sz="1400" kern="1200" dirty="0"/>
        </a:p>
      </dsp:txBody>
      <dsp:txXfrm>
        <a:off x="6236815" y="2338525"/>
        <a:ext cx="4277313" cy="1302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4DD07-FB8C-431E-969C-8D8F49E811AD}">
      <dsp:nvSpPr>
        <dsp:cNvPr id="0" name=""/>
        <dsp:cNvSpPr/>
      </dsp:nvSpPr>
      <dsp:spPr>
        <a:xfrm>
          <a:off x="770970" y="35490"/>
          <a:ext cx="810523" cy="798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CAF95C-502E-45F4-94A3-2E40F8F4D76F}">
      <dsp:nvSpPr>
        <dsp:cNvPr id="0" name=""/>
        <dsp:cNvSpPr/>
      </dsp:nvSpPr>
      <dsp:spPr>
        <a:xfrm>
          <a:off x="18341" y="1017627"/>
          <a:ext cx="2315782" cy="941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 dirty="0"/>
            <a:t>Fuente de datos: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0" kern="1200" dirty="0"/>
            <a:t>CIS – Barómetro COVID-19 (Estudio 3312, 2021).</a:t>
          </a:r>
          <a:endParaRPr lang="en-US" sz="1400" b="0" kern="1200" dirty="0"/>
        </a:p>
      </dsp:txBody>
      <dsp:txXfrm>
        <a:off x="18341" y="1017627"/>
        <a:ext cx="2315782" cy="941204"/>
      </dsp:txXfrm>
    </dsp:sp>
    <dsp:sp modelId="{EEBD9565-B3F2-4C2D-88A2-C0CA6082C468}">
      <dsp:nvSpPr>
        <dsp:cNvPr id="0" name=""/>
        <dsp:cNvSpPr/>
      </dsp:nvSpPr>
      <dsp:spPr>
        <a:xfrm>
          <a:off x="18341" y="2044439"/>
          <a:ext cx="2315782" cy="2271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AB12FF-A9AD-4CBE-A035-BF40D20470CF}">
      <dsp:nvSpPr>
        <dsp:cNvPr id="0" name=""/>
        <dsp:cNvSpPr/>
      </dsp:nvSpPr>
      <dsp:spPr>
        <a:xfrm>
          <a:off x="3492015" y="35490"/>
          <a:ext cx="810523" cy="798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833711-6EAC-47CD-979D-DD7252D31249}">
      <dsp:nvSpPr>
        <dsp:cNvPr id="0" name=""/>
        <dsp:cNvSpPr/>
      </dsp:nvSpPr>
      <dsp:spPr>
        <a:xfrm>
          <a:off x="2739386" y="1017627"/>
          <a:ext cx="2315782" cy="941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 dirty="0"/>
            <a:t>Ámbito del estudio: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0" kern="1200" dirty="0"/>
            <a:t>5 Comunidades autónomas: Andalucía, Castilla y León, Galicia, Madrid y País Vasco</a:t>
          </a:r>
          <a:r>
            <a:rPr lang="es-ES" sz="1400" kern="1200" dirty="0"/>
            <a:t>.</a:t>
          </a:r>
          <a:endParaRPr lang="en-US" sz="1400" kern="1200" dirty="0"/>
        </a:p>
      </dsp:txBody>
      <dsp:txXfrm>
        <a:off x="2739386" y="1017627"/>
        <a:ext cx="2315782" cy="941204"/>
      </dsp:txXfrm>
    </dsp:sp>
    <dsp:sp modelId="{3539968F-8AC7-401F-B80A-B5052F442BC1}">
      <dsp:nvSpPr>
        <dsp:cNvPr id="0" name=""/>
        <dsp:cNvSpPr/>
      </dsp:nvSpPr>
      <dsp:spPr>
        <a:xfrm>
          <a:off x="2739386" y="2044439"/>
          <a:ext cx="2315782" cy="2271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2005D-C706-4554-A218-725CBE6B9CE6}">
      <dsp:nvSpPr>
        <dsp:cNvPr id="0" name=""/>
        <dsp:cNvSpPr/>
      </dsp:nvSpPr>
      <dsp:spPr>
        <a:xfrm>
          <a:off x="6213060" y="30505"/>
          <a:ext cx="810523" cy="798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C48F2E-1A91-4276-A78D-B3D218C8D280}">
      <dsp:nvSpPr>
        <dsp:cNvPr id="0" name=""/>
        <dsp:cNvSpPr/>
      </dsp:nvSpPr>
      <dsp:spPr>
        <a:xfrm>
          <a:off x="5460430" y="1012641"/>
          <a:ext cx="2315782" cy="941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kern="1200" dirty="0"/>
            <a:t>Técnicas aplicadas:</a:t>
          </a:r>
          <a:endParaRPr lang="en-US" sz="1400" kern="1200" dirty="0"/>
        </a:p>
      </dsp:txBody>
      <dsp:txXfrm>
        <a:off x="5460430" y="1012641"/>
        <a:ext cx="2315782" cy="941204"/>
      </dsp:txXfrm>
    </dsp:sp>
    <dsp:sp modelId="{88209E21-E7AB-415A-A7EF-A843627760D9}">
      <dsp:nvSpPr>
        <dsp:cNvPr id="0" name=""/>
        <dsp:cNvSpPr/>
      </dsp:nvSpPr>
      <dsp:spPr>
        <a:xfrm>
          <a:off x="5473908" y="1283756"/>
          <a:ext cx="2315782" cy="2291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PCA: reducción de dimensiones (simplificación e identificación de patrones).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LDA y RF: clasificación supervisada (predicciones del nivel de afectación mental).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Clustering: clasificación no supervisada (detección de perfiles sin etiquetas previas).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Todos los análisis se realizaron en Rstudio, empleando lenguaje R.</a:t>
          </a:r>
          <a:endParaRPr lang="en-US" sz="1400" kern="1200" dirty="0"/>
        </a:p>
      </dsp:txBody>
      <dsp:txXfrm>
        <a:off x="5473908" y="1283756"/>
        <a:ext cx="2315782" cy="2291350"/>
      </dsp:txXfrm>
    </dsp:sp>
    <dsp:sp modelId="{2E2DCCF1-641D-429A-AA46-EB9DE3B314F7}">
      <dsp:nvSpPr>
        <dsp:cNvPr id="0" name=""/>
        <dsp:cNvSpPr/>
      </dsp:nvSpPr>
      <dsp:spPr>
        <a:xfrm>
          <a:off x="8934105" y="35490"/>
          <a:ext cx="810523" cy="7980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0FA0F9-2C41-4E5E-8EEB-C06B865FB007}">
      <dsp:nvSpPr>
        <dsp:cNvPr id="0" name=""/>
        <dsp:cNvSpPr/>
      </dsp:nvSpPr>
      <dsp:spPr>
        <a:xfrm>
          <a:off x="8181475" y="1017627"/>
          <a:ext cx="2315782" cy="941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kern="1200"/>
            <a:t>Enfoque:</a:t>
          </a:r>
          <a:endParaRPr lang="en-US" sz="1400" kern="1200"/>
        </a:p>
      </dsp:txBody>
      <dsp:txXfrm>
        <a:off x="8181475" y="1017627"/>
        <a:ext cx="2315782" cy="941204"/>
      </dsp:txXfrm>
    </dsp:sp>
    <dsp:sp modelId="{E05E6CCC-0E02-462C-9B5C-83A933F9A28C}">
      <dsp:nvSpPr>
        <dsp:cNvPr id="0" name=""/>
        <dsp:cNvSpPr/>
      </dsp:nvSpPr>
      <dsp:spPr>
        <a:xfrm>
          <a:off x="8071198" y="1298713"/>
          <a:ext cx="2315782" cy="2271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Análisis previo de los datos: limpieza y agrupación de variables.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Análisis individual por comunidad autónoma: para evitar el sesgo por desigualdad muestral.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Comparación regional para identificar diferencias territoriales.</a:t>
          </a:r>
          <a:endParaRPr lang="en-US" sz="1400" kern="1200" dirty="0"/>
        </a:p>
      </dsp:txBody>
      <dsp:txXfrm>
        <a:off x="8071198" y="1298713"/>
        <a:ext cx="2315782" cy="2271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FC0E2-6E26-4827-B93E-047135C955A1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0282B-F7C1-4219-9798-3741192A4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15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282B-F7C1-4219-9798-3741192A4600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37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23A-1A56-6303-C33C-F1E9FD8B0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D4E1E2-4E4B-1EE3-8C48-6E7D516A7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2FB385-3338-25B2-2431-C23EBB49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60FB06-1694-E948-3F7E-6D226C97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A7DFE-0A48-63E9-7A32-A23FDC79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93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936D0-14E2-B023-A1EC-AB636F17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C2506-0D03-429A-A5CD-7F068B855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745465-AB94-2666-0AE6-C8DAF2EC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16A176-D61F-F8C3-56FD-830C8A99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90CDA-3974-1C3D-CB71-17B0D92F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09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21E3C-6AEA-7A6A-CF9E-D8E2AB65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872958-D3A9-2CDC-12E6-DF413517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29CC3-F9AF-6D3D-951E-8F7FACB1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4A8DA5-FD1B-B8BA-53BB-C9B41FD8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B1CBC1-35D6-5E77-D3DF-E6E050E3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51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DE51B-3ED4-E869-7272-E94EF03D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8232CE-EB0E-7781-0730-477218BFB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B2067F-59C6-A7D9-C331-1CDF773D2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A2535C-65C4-71D3-D812-EEBC7603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2CA1E9-089D-4121-BFBC-C7D00AAC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4BD956-0CED-EC12-8FDF-85280AAB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204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03FA9-1EA5-C695-0D8B-08E415E2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620A38-E7AA-F63A-AD6B-50AB11AD1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2CD048-A2F7-EC06-1C60-25BF04D7A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5BA831-A90F-1BD2-0A14-DE79A0228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ACDD51-43F9-48A1-2E8C-CF77389E1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E662A9-54E1-DC08-9658-459037A7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570325-BB79-ED1D-193D-752FA50D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502E97-4F30-342E-336D-BD78D947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163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164F5-BC8E-17FD-6B91-BA6D05BA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A8D5AB-6AAB-046B-33C3-7F4CF90C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1EA22E-CECC-5822-CE76-C6CB1C3B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74365D-BDF4-7EB1-9306-20777D66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317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727C8E-02B3-CCBD-6FF6-FCD42F13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C23473-D21E-1A7C-A8EB-3DA166FC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6A8D91-19C4-D06C-B04C-9BB05371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481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AA736-F7B1-4261-1577-39E1DF2A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5DD3B-D1B5-BBCA-4085-6C968E27C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11AFBB-5F0D-11FF-5C8C-8F784036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F7B6B-992A-C5A7-2072-F8AC720A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79CF28-EF52-48EE-E27F-6BF62959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7FD105-4183-B219-B1F5-6966ADD6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77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76917-45CF-919A-B4F5-43BA866F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E17724-A398-472C-E09E-79DEF7486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F51833-1D78-587A-138A-23687621E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B1FDBE-7BAB-5FDA-6640-A4C07A84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C6A33-2C7E-3808-3B43-E81537C4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3590CD-4169-269F-94B4-8A54ADF3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99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09946-62BF-5B87-49AD-63E2DB6E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C5137B-80F2-99C3-EFE3-F555BECA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D27526-4A7D-2DFD-BF72-66FF4291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4BCF2A-6FEB-866B-9F88-11B83FB6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90BA2-89DF-63C2-F725-EECC9423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64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7F49BF-DB1E-33AB-2181-BCB580C8E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DDFCF3-A7B5-59EB-177D-3ADAC34FD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BD4F61-D81D-0CF7-3362-112BC3154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D003B8-E85C-51CC-95B7-71A89BD5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58ABB-281E-05BD-8E6F-5D3D323C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811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F10204-9287-7711-FB6D-650FB8AB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03691-AC45-A6AA-4695-62C9E9DA4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20524C-4A95-9BE1-2470-3911120A4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4ABCF-5DC5-47AD-930C-7082556007BE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420E0A-42CA-0820-5F93-C7E48E9B7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31620-AC77-3EDB-EAFE-DDD6C1994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74401-1DBC-4BC3-B7E0-A23BDB0BAA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74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CC7BF-2F86-77C9-32BA-A30D972AE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495659"/>
            <a:ext cx="5606902" cy="34043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latin typeface="+mj-lt"/>
                <a:ea typeface="+mj-ea"/>
                <a:cs typeface="+mj-cs"/>
              </a:rPr>
              <a:t>Impacto de la pandemia COVID-19 </a:t>
            </a:r>
            <a:r>
              <a:rPr lang="en-US" sz="3800" kern="1200" dirty="0" err="1">
                <a:latin typeface="+mj-lt"/>
                <a:ea typeface="+mj-ea"/>
                <a:cs typeface="+mj-cs"/>
              </a:rPr>
              <a:t>en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 la </a:t>
            </a:r>
            <a:r>
              <a:rPr lang="en-US" sz="3800" kern="1200" dirty="0" err="1">
                <a:latin typeface="+mj-lt"/>
                <a:ea typeface="+mj-ea"/>
                <a:cs typeface="+mj-cs"/>
              </a:rPr>
              <a:t>salud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 mental </a:t>
            </a:r>
            <a:r>
              <a:rPr lang="en-US" sz="3800" kern="1200" dirty="0" err="1">
                <a:latin typeface="+mj-lt"/>
                <a:ea typeface="+mj-ea"/>
                <a:cs typeface="+mj-cs"/>
              </a:rPr>
              <a:t>en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 España: </a:t>
            </a:r>
            <a:br>
              <a:rPr lang="en-US" sz="3800" kern="1200" dirty="0">
                <a:latin typeface="+mj-lt"/>
                <a:ea typeface="+mj-ea"/>
                <a:cs typeface="+mj-cs"/>
              </a:rPr>
            </a:br>
            <a:r>
              <a:rPr lang="en-US" sz="2000" kern="1200" dirty="0">
                <a:latin typeface="+mj-lt"/>
                <a:ea typeface="+mj-ea"/>
                <a:cs typeface="+mj-cs"/>
              </a:rPr>
              <a:t>Un </a:t>
            </a:r>
            <a:r>
              <a:rPr lang="en-US" sz="2000" kern="1200" dirty="0" err="1">
                <a:latin typeface="+mj-lt"/>
                <a:ea typeface="+mj-ea"/>
                <a:cs typeface="+mj-cs"/>
              </a:rPr>
              <a:t>análisis</a:t>
            </a:r>
            <a:r>
              <a:rPr lang="en-US" sz="20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2000" kern="1200" dirty="0" err="1">
                <a:latin typeface="+mj-lt"/>
                <a:ea typeface="+mj-ea"/>
                <a:cs typeface="+mj-cs"/>
              </a:rPr>
              <a:t>estadístico</a:t>
            </a:r>
            <a:r>
              <a:rPr lang="en-US" sz="2000" kern="1200" dirty="0">
                <a:latin typeface="+mj-lt"/>
                <a:ea typeface="+mj-ea"/>
                <a:cs typeface="+mj-cs"/>
              </a:rPr>
              <a:t> a </a:t>
            </a:r>
            <a:r>
              <a:rPr lang="en-US" sz="2000" kern="1200" dirty="0" err="1">
                <a:latin typeface="+mj-lt"/>
                <a:ea typeface="+mj-ea"/>
                <a:cs typeface="+mj-cs"/>
              </a:rPr>
              <a:t>partir</a:t>
            </a:r>
            <a:r>
              <a:rPr lang="en-US" sz="200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2000" kern="1200" dirty="0" err="1">
                <a:latin typeface="+mj-lt"/>
                <a:ea typeface="+mj-ea"/>
                <a:cs typeface="+mj-cs"/>
              </a:rPr>
              <a:t>datos</a:t>
            </a:r>
            <a:r>
              <a:rPr lang="en-US" sz="2000" kern="1200" dirty="0">
                <a:latin typeface="+mj-lt"/>
                <a:ea typeface="+mj-ea"/>
                <a:cs typeface="+mj-cs"/>
              </a:rPr>
              <a:t> del CIS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18ED1F-1AC2-8E07-19F4-6FDD28D19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097" y="5212095"/>
            <a:ext cx="2119632" cy="31357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400" dirty="0"/>
              <a:t>Ángel Arostegui Gros</a:t>
            </a:r>
          </a:p>
          <a:p>
            <a:pPr algn="l"/>
            <a:endParaRPr lang="en-US" sz="14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67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413938-558F-AE60-06F5-C759C6D54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240" y="209499"/>
            <a:ext cx="4191000" cy="1164174"/>
          </a:xfrm>
        </p:spPr>
        <p:txBody>
          <a:bodyPr>
            <a:normAutofit/>
          </a:bodyPr>
          <a:lstStyle/>
          <a:p>
            <a:r>
              <a:rPr lang="es-ES" sz="3600" dirty="0"/>
              <a:t>Introducción: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35E2B2-135C-7D0F-9BD8-CA3F13B3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241" y="1007011"/>
            <a:ext cx="6051468" cy="5338763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El COVID-19 provocó un aumento global de síntomas psicológicos: ansiedad, estrés, depresión, soledad.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E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En España, estudios, como los barómetros del CIS, confirmaron este impacto, mostrando que no afectó a toda la población por igual.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E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Factores como el género, la edad y el territorio marcaron diferencias importantes.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Analizar estas diferencias permitirá detectar vulnerabilidades y orientar nuevas políticas públicas adaptadas a las necesidades de cada región.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ES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Motivación personal: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Interés por comprender como una crisis sanitaria global, como fue el COVID-19, pudo afectar tan profundamente a la salud mental.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ES" sz="1400" dirty="0"/>
              <a:t>Aportar conocimientos que ayuden a mejorar la atención y las políticas públicas en este tema, especialmente en las regiones mas vulnerables.</a:t>
            </a:r>
          </a:p>
        </p:txBody>
      </p:sp>
      <p:pic>
        <p:nvPicPr>
          <p:cNvPr id="5" name="Gráfico 4" descr="Cerebro izquierdo y derecho con relleno sólido">
            <a:extLst>
              <a:ext uri="{FF2B5EF4-FFF2-40B4-BE49-F238E27FC236}">
                <a16:creationId xmlns:a16="http://schemas.microsoft.com/office/drawing/2014/main" id="{579B7BC1-24B9-DA56-E60B-D06141356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8907" y="2543266"/>
            <a:ext cx="1756511" cy="175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2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B2CA6E-DD6A-89B4-C37D-FE524E79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944" y="249480"/>
            <a:ext cx="9842237" cy="1325563"/>
          </a:xfrm>
        </p:spPr>
        <p:txBody>
          <a:bodyPr>
            <a:normAutofit/>
          </a:bodyPr>
          <a:lstStyle/>
          <a:p>
            <a:pPr algn="ctr"/>
            <a:r>
              <a:rPr lang="es-ES" sz="3600" dirty="0"/>
              <a:t>Objetivos: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A3E0648-7D98-8842-6BA5-048AB2AF0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569912"/>
              </p:ext>
            </p:extLst>
          </p:nvPr>
        </p:nvGraphicFramePr>
        <p:xfrm>
          <a:off x="838200" y="133626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473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DC4048-769E-578C-450C-1266D3ED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ES" sz="3600" dirty="0"/>
              <a:t>Estado de la cuestión:</a:t>
            </a:r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B775A5CD-9C38-49EC-257D-76182257B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59494-A87E-271F-F109-15911FA3E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s-ES" sz="1300" dirty="0"/>
              <a:t>Tras la pandemia COVID-19, diversos estudios han analizado el impacto psicológico en la población, mostrando diferencias por edad, género y otras variables:</a:t>
            </a:r>
          </a:p>
          <a:p>
            <a:pPr>
              <a:spcBef>
                <a:spcPts val="0"/>
              </a:spcBef>
            </a:pPr>
            <a:endParaRPr lang="es-ES" sz="1300" dirty="0"/>
          </a:p>
          <a:p>
            <a:pPr lvl="1">
              <a:spcBef>
                <a:spcPts val="0"/>
              </a:spcBef>
            </a:pPr>
            <a:r>
              <a:rPr lang="es-ES" sz="1300" dirty="0"/>
              <a:t>Funcas (2023):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Muestra: población adulta.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Indicadores: ansiedad, tristeza, nervios, soledad, insomnio.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Se evaluó la variación de los indicadores para evaluar la afectación.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Grupos mas afectados: mujeres y jóvenes (18-34 años).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En 2021: mejora general de la salud mental, pero empeora en los jóvenes.</a:t>
            </a:r>
          </a:p>
          <a:p>
            <a:pPr lvl="2">
              <a:spcBef>
                <a:spcPts val="0"/>
              </a:spcBef>
            </a:pPr>
            <a:endParaRPr lang="es-ES" sz="1300" dirty="0"/>
          </a:p>
          <a:p>
            <a:pPr lvl="2">
              <a:spcBef>
                <a:spcPts val="0"/>
              </a:spcBef>
            </a:pPr>
            <a:endParaRPr lang="es-ES" sz="1300" dirty="0"/>
          </a:p>
          <a:p>
            <a:pPr lvl="1">
              <a:spcBef>
                <a:spcPts val="0"/>
              </a:spcBef>
            </a:pPr>
            <a:r>
              <a:rPr lang="es-ES" sz="1300" dirty="0"/>
              <a:t>Cambridge (2021):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Muestra: personal sanitario y no sanitario.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Método ANOVA encontró diferencias significativas en estrés psicológico según región, edad y acceso a terapia.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Mayor impacto: sanitarios, en especial enfermeros/as  y residentes.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Factores agravantes: falta de protección e información.</a:t>
            </a:r>
          </a:p>
          <a:p>
            <a:pPr lvl="1">
              <a:spcBef>
                <a:spcPts val="0"/>
              </a:spcBef>
            </a:pPr>
            <a:endParaRPr lang="es-ES" sz="1300" dirty="0"/>
          </a:p>
          <a:p>
            <a:pPr lvl="1">
              <a:spcBef>
                <a:spcPts val="0"/>
              </a:spcBef>
            </a:pPr>
            <a:r>
              <a:rPr lang="es-ES" sz="1300" dirty="0"/>
              <a:t>Conclusión estado de la cuestión:</a:t>
            </a:r>
          </a:p>
          <a:p>
            <a:pPr lvl="2">
              <a:spcBef>
                <a:spcPts val="0"/>
              </a:spcBef>
            </a:pPr>
            <a:r>
              <a:rPr lang="es-ES" sz="1300" dirty="0"/>
              <a:t>La pandemia impactó especialmente a mujeres, jóvenes y personal sanitario.</a:t>
            </a:r>
          </a:p>
          <a:p>
            <a:pPr lvl="2">
              <a:spcBef>
                <a:spcPts val="0"/>
              </a:spcBef>
            </a:pPr>
            <a:endParaRPr lang="es-ES" sz="1300" dirty="0"/>
          </a:p>
          <a:p>
            <a:pPr>
              <a:spcBef>
                <a:spcPts val="0"/>
              </a:spcBef>
            </a:pPr>
            <a:r>
              <a:rPr lang="es-ES" sz="1300" dirty="0"/>
              <a:t>Este estudio trata de comprender mejor el impacto psicológico en las distintas regiones y colectivos, usando un enfoque mas local y detallado.</a:t>
            </a:r>
          </a:p>
          <a:p>
            <a:pPr lvl="2"/>
            <a:endParaRPr lang="es-ES" sz="1300" dirty="0"/>
          </a:p>
        </p:txBody>
      </p:sp>
    </p:spTree>
    <p:extLst>
      <p:ext uri="{BB962C8B-B14F-4D97-AF65-F5344CB8AC3E}">
        <p14:creationId xmlns:p14="http://schemas.microsoft.com/office/powerpoint/2010/main" val="276520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E810FE-1245-9DCD-3021-A9F52A2090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552" b="101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F73118-598A-72AC-4891-4E985DB5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3600" dirty="0"/>
              <a:t>Metodología: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555F40E-8D96-D421-BA31-58D3ACAC1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9473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889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BD1C3D-EA01-9562-354B-206518D1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738" y="178645"/>
            <a:ext cx="3748810" cy="4726502"/>
          </a:xfrm>
        </p:spPr>
        <p:txBody>
          <a:bodyPr>
            <a:normAutofit/>
          </a:bodyPr>
          <a:lstStyle/>
          <a:p>
            <a:pPr algn="ctr"/>
            <a:r>
              <a:rPr lang="es-ES" sz="3600" dirty="0"/>
              <a:t>Análisis previo de los datos: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BD583-9494-DFE3-BF9B-D833C020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s-ES" sz="1400" dirty="0"/>
              <a:t>Datos iniciales: 3083 observaciones y 353 variables.</a:t>
            </a:r>
          </a:p>
          <a:p>
            <a:pPr marL="0" indent="0">
              <a:spcBef>
                <a:spcPts val="0"/>
              </a:spcBef>
              <a:buNone/>
            </a:pPr>
            <a:endParaRPr lang="es-ES" sz="1400" dirty="0"/>
          </a:p>
          <a:p>
            <a:pPr>
              <a:spcBef>
                <a:spcPts val="0"/>
              </a:spcBef>
            </a:pPr>
            <a:r>
              <a:rPr lang="es-ES" sz="1400" dirty="0"/>
              <a:t>Preprocesamiento: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Eliminación de respuestas no informativas y variables irrelevantes para el estudio (reducción de los datos iniciales a 873 observaciones y 57 variables).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Agrupación de variables similares (variables P13 relacionadas con síntomas físicos: P13_dolores).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s-ES" sz="1400" dirty="0"/>
          </a:p>
          <a:p>
            <a:pPr>
              <a:spcBef>
                <a:spcPts val="0"/>
              </a:spcBef>
            </a:pPr>
            <a:r>
              <a:rPr lang="es-ES" sz="1400" dirty="0"/>
              <a:t>Selección de 5 CCAA representativas: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Diversidad en densidad de población, economía y gestión sanitaria durante la pandemia.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Distribución por CCAA: Andalucía (327), Castilla y León (100), Galicia (115), Madrid (270) y País Vasco (61).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s-ES" sz="1400" dirty="0"/>
          </a:p>
          <a:p>
            <a:pPr>
              <a:spcBef>
                <a:spcPts val="0"/>
              </a:spcBef>
            </a:pPr>
            <a:r>
              <a:rPr lang="es-ES" sz="1400" dirty="0"/>
              <a:t>Clasificación de variables: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Variables ordinales, binarias, tricotómicas, continuas y sociodemográficas (género, edad y provincia).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s-ES" sz="1400" dirty="0"/>
          </a:p>
          <a:p>
            <a:pPr>
              <a:spcBef>
                <a:spcPts val="0"/>
              </a:spcBef>
            </a:pPr>
            <a:r>
              <a:rPr lang="es-ES" sz="1400" dirty="0"/>
              <a:t>Características básicas de la muestra: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Edad media: 45 años.</a:t>
            </a:r>
          </a:p>
          <a:p>
            <a:pPr lvl="1">
              <a:spcBef>
                <a:spcPts val="0"/>
              </a:spcBef>
            </a:pPr>
            <a:r>
              <a:rPr lang="es-ES" sz="1400" dirty="0"/>
              <a:t>Distribución por género: 456 hombres y 417mujeres.</a:t>
            </a:r>
          </a:p>
          <a:p>
            <a:pPr lvl="1"/>
            <a:endParaRPr lang="es-ES" sz="1400" dirty="0"/>
          </a:p>
          <a:p>
            <a:endParaRPr lang="es-ES" sz="1400" dirty="0"/>
          </a:p>
        </p:txBody>
      </p:sp>
      <p:pic>
        <p:nvPicPr>
          <p:cNvPr id="5" name="Gráfico 4" descr="Investigación con relleno sólido">
            <a:extLst>
              <a:ext uri="{FF2B5EF4-FFF2-40B4-BE49-F238E27FC236}">
                <a16:creationId xmlns:a16="http://schemas.microsoft.com/office/drawing/2014/main" id="{EFDF0DE6-1BA2-9184-8F62-9EB7C9946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3943" y="30995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3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854AF-3857-C037-4E07-FDEBA7D6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46" y="-192729"/>
            <a:ext cx="7254688" cy="1600200"/>
          </a:xfrm>
        </p:spPr>
        <p:txBody>
          <a:bodyPr>
            <a:normAutofit/>
          </a:bodyPr>
          <a:lstStyle/>
          <a:p>
            <a:r>
              <a:rPr lang="es-ES" sz="2800" dirty="0"/>
              <a:t>Análisis de componentes principales – PCA Andalucía:</a:t>
            </a:r>
          </a:p>
        </p:txBody>
      </p:sp>
      <p:pic>
        <p:nvPicPr>
          <p:cNvPr id="6" name="Marcador de posición de imagen 5" descr="Interfaz de usuario gráfica, Gráfico, Histograma&#10;&#10;El contenido generado por IA puede ser incorrecto.">
            <a:extLst>
              <a:ext uri="{FF2B5EF4-FFF2-40B4-BE49-F238E27FC236}">
                <a16:creationId xmlns:a16="http://schemas.microsoft.com/office/drawing/2014/main" id="{842A8935-257B-78D4-5913-BFF93A0610E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4" b="9324"/>
          <a:stretch>
            <a:fillRect/>
          </a:stretch>
        </p:blipFill>
        <p:spPr>
          <a:xfrm>
            <a:off x="8088634" y="294280"/>
            <a:ext cx="3073461" cy="2426833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691559-AD78-B74E-4DC7-F1E6DBB78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3946" y="1407471"/>
            <a:ext cx="6394730" cy="538915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Objetivo: identificar las principales dimensiones del impacto psicológico de la pandemia en Andalucía, reduciendo la complejidad de los datos.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Metodología: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Estandarización de las variables (media = 0, desviación típica = 1).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Se conservan los 15 primeros componentes (69,3% de la varianza total).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Componentes clave: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PC1: malestar emocional general (ansiedad, tristeza, irritabilidad).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PC2: bienestar psicosocial (apoyo social).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PC3: impacto en la rutina diaria y el hogar.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PC10/PC13: malestar físico y sufrimiento severo.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Agrupación temática de los componentes: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Malestar emocional/físico: PC1, PC10,PC13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Bienestar y ajuste personal: PC2, PC5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Factores contextuales y cotidianos: PC3, PC4, PC7, PC9, PC11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Apoyo social y relaciones: PC6, PC12 PC14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Afectación física o somática: PC8, PC10, PC15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Conclusión: 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PCA en Andalucía muestra que la pandemia afectó de distintas formas, combinando malestar emocional y físico con preocupaciones personales y sociales, lo que señala la necesidad de apoyar la salud mental según la realidad vivida en la región.</a:t>
            </a:r>
            <a:endParaRPr lang="es-ES" sz="1100" dirty="0"/>
          </a:p>
        </p:txBody>
      </p:sp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D2069C5-3993-21B9-934E-D4B1AF06E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630" y="2721113"/>
            <a:ext cx="4030241" cy="39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7BD5B-68C3-899E-E7A1-D4407BCE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889" y="-136771"/>
            <a:ext cx="5531777" cy="1164169"/>
          </a:xfrm>
        </p:spPr>
        <p:txBody>
          <a:bodyPr>
            <a:normAutofit/>
          </a:bodyPr>
          <a:lstStyle/>
          <a:p>
            <a:r>
              <a:rPr lang="es-ES" sz="2800" dirty="0"/>
              <a:t>Comparación de resultados del PCA 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20EA10-66DD-E86E-0EC9-126B173A9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5654" y="1504510"/>
            <a:ext cx="4639888" cy="490817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Interpretación: los distintos PCA revelan una estructura común formada por tres grandes dimensiones: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Malestar emocional (PC1): predominante en todas las regiones, incluye síntomas de ansiedad, estrés y pensamientos negativos.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Impacto social y miedos asociados (PC2): reflejado por las preocupaciones por contagio, pérdida de empleo o  asilamiento.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Síntomas físicos y alteraciones funcionales (PC3/PC5): asociados al estrés y al trauma, con mas peso en ciertas CCAA.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Aunque los patrones son consistentes, hay ciertas particularidades regionales: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Castilla y León presenta un fuerte componente en síntomas físicos (fatiga, mareos o insomnio).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Galicia destaca por la percepción personal (como cada persona vivió y sintió la situación).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País Vasco muestra mas equilibrio entre síntomas emocional-social-físico (distribución más homogénea del malestar).</a:t>
            </a:r>
            <a:br>
              <a:rPr lang="es-ES" sz="1200" dirty="0"/>
            </a:br>
            <a:endParaRPr lang="es-ES" sz="1200" dirty="0"/>
          </a:p>
          <a:p>
            <a:endParaRPr lang="es-E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E8CB7A6-2E4E-E045-05B2-676EED753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75943"/>
              </p:ext>
            </p:extLst>
          </p:nvPr>
        </p:nvGraphicFramePr>
        <p:xfrm>
          <a:off x="5531777" y="1302804"/>
          <a:ext cx="6254568" cy="4710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1169">
                  <a:extLst>
                    <a:ext uri="{9D8B030D-6E8A-4147-A177-3AD203B41FA5}">
                      <a16:colId xmlns:a16="http://schemas.microsoft.com/office/drawing/2014/main" val="1904325564"/>
                    </a:ext>
                  </a:extLst>
                </a:gridCol>
                <a:gridCol w="1178472">
                  <a:extLst>
                    <a:ext uri="{9D8B030D-6E8A-4147-A177-3AD203B41FA5}">
                      <a16:colId xmlns:a16="http://schemas.microsoft.com/office/drawing/2014/main" val="1367119795"/>
                    </a:ext>
                  </a:extLst>
                </a:gridCol>
                <a:gridCol w="1220065">
                  <a:extLst>
                    <a:ext uri="{9D8B030D-6E8A-4147-A177-3AD203B41FA5}">
                      <a16:colId xmlns:a16="http://schemas.microsoft.com/office/drawing/2014/main" val="72833261"/>
                    </a:ext>
                  </a:extLst>
                </a:gridCol>
                <a:gridCol w="964414">
                  <a:extLst>
                    <a:ext uri="{9D8B030D-6E8A-4147-A177-3AD203B41FA5}">
                      <a16:colId xmlns:a16="http://schemas.microsoft.com/office/drawing/2014/main" val="3178795311"/>
                    </a:ext>
                  </a:extLst>
                </a:gridCol>
                <a:gridCol w="1059786">
                  <a:extLst>
                    <a:ext uri="{9D8B030D-6E8A-4147-A177-3AD203B41FA5}">
                      <a16:colId xmlns:a16="http://schemas.microsoft.com/office/drawing/2014/main" val="3219064711"/>
                    </a:ext>
                  </a:extLst>
                </a:gridCol>
                <a:gridCol w="1040662">
                  <a:extLst>
                    <a:ext uri="{9D8B030D-6E8A-4147-A177-3AD203B41FA5}">
                      <a16:colId xmlns:a16="http://schemas.microsoft.com/office/drawing/2014/main" val="143906473"/>
                    </a:ext>
                  </a:extLst>
                </a:gridCol>
              </a:tblGrid>
              <a:tr h="164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1" kern="100">
                          <a:effectLst/>
                        </a:rPr>
                        <a:t>Componente</a:t>
                      </a:r>
                      <a:endParaRPr lang="es-ES" sz="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Andalucía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Castilla y León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Galicia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Madrid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País Vasco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80463"/>
                  </a:ext>
                </a:extLst>
              </a:tr>
              <a:tr h="10562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1" kern="100">
                          <a:effectLst/>
                        </a:rPr>
                        <a:t>PC1 (Malestar emocional)</a:t>
                      </a:r>
                      <a:endParaRPr lang="es-ES" sz="8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P11_3: Muy preocupado sin control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P11_7: Muy nervioso/a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P11_8: Agobiado/a o estresado/a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P11_7: Muy nervioso/a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P11_8: Agobiado/a o estresado/a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P11_9: Intranquilo/a o inquieto/a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P11_1: Mucha ansiedad o miedo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P11_9: Intranquilo/a o inquieto/a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P11_4: Solo/a o aislado/a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P11_8: Agobiado/a o estresado/a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P11_6: Irritable, enfadado/a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P11_9: Intranquilo/a o inquieto/a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extLst>
                  <a:ext uri="{0D108BD9-81ED-4DB2-BD59-A6C34878D82A}">
                    <a16:rowId xmlns:a16="http://schemas.microsoft.com/office/drawing/2014/main" val="2505076070"/>
                  </a:ext>
                </a:extLst>
              </a:tr>
              <a:tr h="121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1" kern="100" dirty="0">
                          <a:effectLst/>
                        </a:rPr>
                        <a:t>PC2 (Miedos vinculados al impacto social/laboral)</a:t>
                      </a:r>
                      <a:endParaRPr lang="es-ES" sz="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P12_1: Miedo a contagiarse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P12_5: Miedo a propagación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P12_7: Miedo a empeorar enfermedad previa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P12_3: Miedo contagio familiar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P12_9: Miedo a no ver familia/amigos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P12_12: Miedo a pérdida empleo familiar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P12_4: Miedo a muerte familiar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P12_10: Miedo a pérdida empleo propio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P12_13: Miedo a aislamiento social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P12_7: Miedo a empeorar enfermedad previa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P12_11: Miedo a pérdida ingresos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P12_14: Miedo a cambios sociales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P12_5: Miedo a propagación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P12_12: Miedo a pérdida empleo familiar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P12_15: Miedo a pandemia permanente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extLst>
                  <a:ext uri="{0D108BD9-81ED-4DB2-BD59-A6C34878D82A}">
                    <a16:rowId xmlns:a16="http://schemas.microsoft.com/office/drawing/2014/main" val="3429846775"/>
                  </a:ext>
                </a:extLst>
              </a:tr>
              <a:tr h="10562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1" kern="100" dirty="0">
                          <a:effectLst/>
                        </a:rPr>
                        <a:t>PC3 (Síntomas depresivos y de ansiedad)</a:t>
                      </a:r>
                      <a:endParaRPr lang="es-ES" sz="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P5_1: Poco interés/placer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P5_2: Decaimiento o depresión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P5_4: No puede controlar preocupaciones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P5_2: Decaimiento o depresión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P5_3: Nervioso/a o ansioso/a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P5_1: Poco interés/placer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P5_4: No puede controlar preocupaciones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P5_3: Nervioso/a o ansioso/a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P5_2: Decaimiento o depresión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P5_4: No puede controlar preocupaciones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extLst>
                  <a:ext uri="{0D108BD9-81ED-4DB2-BD59-A6C34878D82A}">
                    <a16:rowId xmlns:a16="http://schemas.microsoft.com/office/drawing/2014/main" val="3589343593"/>
                  </a:ext>
                </a:extLst>
              </a:tr>
              <a:tr h="121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1" kern="100" dirty="0">
                          <a:effectLst/>
                        </a:rPr>
                        <a:t>PC5 (Repercusiones del estrés en la vida diaria)</a:t>
                      </a:r>
                      <a:endParaRPr lang="es-ES" sz="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P6_1: Pensamientos desagradables no deseados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P6_3: Reacciones físicas (sudoración, taquicardia)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P6_7: Alteración en trabajo/tareas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P6_4: Sentirse angustiado/a o agobiado/a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P6_7: Alteración en trabajo/tareas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P6_3: Reacciones físicas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P6_6: Alteración vida social/familiar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P6_6: Alteración vida social/familiar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P6_7: Alteración en trabajo/tareas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P6_5: Intento de evitar recuerdos molestos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b="0" kern="100" dirty="0">
                          <a:effectLst/>
                        </a:rPr>
                        <a:t>P6_7: Alteración en trabajo/tareas</a:t>
                      </a:r>
                      <a:endParaRPr lang="es-ES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4501" anchor="ctr"/>
                </a:tc>
                <a:extLst>
                  <a:ext uri="{0D108BD9-81ED-4DB2-BD59-A6C34878D82A}">
                    <a16:rowId xmlns:a16="http://schemas.microsoft.com/office/drawing/2014/main" val="546406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99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B6ECB-42CB-1A22-E5B3-F35E542C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3886"/>
            <a:ext cx="6095998" cy="1600200"/>
          </a:xfrm>
        </p:spPr>
        <p:txBody>
          <a:bodyPr>
            <a:noAutofit/>
          </a:bodyPr>
          <a:lstStyle/>
          <a:p>
            <a:pPr algn="ctr"/>
            <a:r>
              <a:rPr lang="es-ES" sz="2800" dirty="0"/>
              <a:t>Modelo LDA: Clasificación del impacto en la salud mental – LDA Andalucía: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9FDEFC-D598-3952-C26A-106599192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0290" y="1528219"/>
            <a:ext cx="5256212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Interpretación: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modelo LDA clasifica con alta precisión los niveles de afectación mental en tres categorías, destacando en baja y moderada afectación.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componente principal mas influyente es el PC1 (malestar psicológico general), seguido de PC2 (síntomas físicos) y PC4 (exposición al virus y condicional profesional).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La función LD1, que explica el 93,61% de la variabilidad total, es clave para la discriminación entre niveles.</a:t>
            </a:r>
          </a:p>
          <a:p>
            <a:pPr lvl="1"/>
            <a:endParaRPr lang="es-E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Conclusión: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modelo LDA demuestra gran capacidad discriminativa y ayuda a identificar perfiles de vulnerabilidad emocional en Andalucía, validando su utilidad como herramienta de clasificación supervisada.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178A49C-AF25-61F4-113F-0376D1D80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24221"/>
              </p:ext>
            </p:extLst>
          </p:nvPr>
        </p:nvGraphicFramePr>
        <p:xfrm>
          <a:off x="6888725" y="1093337"/>
          <a:ext cx="4335578" cy="7495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5192">
                  <a:extLst>
                    <a:ext uri="{9D8B030D-6E8A-4147-A177-3AD203B41FA5}">
                      <a16:colId xmlns:a16="http://schemas.microsoft.com/office/drawing/2014/main" val="2321661020"/>
                    </a:ext>
                  </a:extLst>
                </a:gridCol>
                <a:gridCol w="1163171">
                  <a:extLst>
                    <a:ext uri="{9D8B030D-6E8A-4147-A177-3AD203B41FA5}">
                      <a16:colId xmlns:a16="http://schemas.microsoft.com/office/drawing/2014/main" val="4041657605"/>
                    </a:ext>
                  </a:extLst>
                </a:gridCol>
                <a:gridCol w="880782">
                  <a:extLst>
                    <a:ext uri="{9D8B030D-6E8A-4147-A177-3AD203B41FA5}">
                      <a16:colId xmlns:a16="http://schemas.microsoft.com/office/drawing/2014/main" val="906483451"/>
                    </a:ext>
                  </a:extLst>
                </a:gridCol>
                <a:gridCol w="956433">
                  <a:extLst>
                    <a:ext uri="{9D8B030D-6E8A-4147-A177-3AD203B41FA5}">
                      <a16:colId xmlns:a16="http://schemas.microsoft.com/office/drawing/2014/main" val="1006413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Verdadero \ Predicho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23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1400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6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175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374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113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3526862"/>
                  </a:ext>
                </a:extLst>
              </a:tr>
            </a:tbl>
          </a:graphicData>
        </a:graphic>
      </p:graphicFrame>
      <p:pic>
        <p:nvPicPr>
          <p:cNvPr id="8" name="Imagen 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0DD2ECFF-4179-8540-F0B4-C2A7C652E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17" y="2966646"/>
            <a:ext cx="2967192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BFB1022-27BE-2DCA-065E-4997129AB09A}"/>
                  </a:ext>
                </a:extLst>
              </p:cNvPr>
              <p:cNvSpPr txBox="1"/>
              <p:nvPr/>
            </p:nvSpPr>
            <p:spPr>
              <a:xfrm>
                <a:off x="556591" y="5882078"/>
                <a:ext cx="11405703" cy="546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000" b="1" i="0" smtClean="0">
                          <a:latin typeface="Cambria Math" panose="02040503050406030204" pitchFamily="18" charset="0"/>
                        </a:rPr>
                        <m:t>𝐋𝐃𝟏</m:t>
                      </m:r>
                      <m:r>
                        <a:rPr lang="es-ES" sz="1000" b="1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𝟒𝟔𝟐𝟒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𝑷</m:t>
                      </m:r>
                      <m:sSub>
                        <m:sSubPr>
                          <m:ctrlPr>
                            <a:rPr lang="es-ES" sz="1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S" sz="1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1000" b="1" i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𝟏𝟓𝟒𝟗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𝑷</m:t>
                      </m:r>
                      <m:sSub>
                        <m:sSubPr>
                          <m:ctrlPr>
                            <a:rPr lang="es-ES" sz="1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S" sz="1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− 0.0254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𝟏𝟔𝟗𝟐</m:t>
                      </m:r>
                      <m:r>
                        <a:rPr lang="es-ES" sz="1000" b="1" i="0">
                          <a:latin typeface="Cambria Math" panose="02040503050406030204" pitchFamily="18" charset="0"/>
                        </a:rPr>
                        <m:t> ⋅</m:t>
                      </m:r>
                      <m:r>
                        <a:rPr lang="es-ES" sz="1000" b="1" i="1">
                          <a:latin typeface="Cambria Math" panose="02040503050406030204" pitchFamily="18" charset="0"/>
                        </a:rPr>
                        <m:t>𝑷</m:t>
                      </m:r>
                      <m:sSub>
                        <m:sSubPr>
                          <m:ctrlPr>
                            <a:rPr lang="es-ES" sz="1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s-ES" sz="1000" b="1" i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− 0.0724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− 0.0128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− 0.0245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+ 0.1467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+ 0.0827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− 0.0459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+ 0.0392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− 0.0421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+ 0.0982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+ 0.0736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s-ES" sz="1000" b="0" i="0">
                          <a:latin typeface="Cambria Math" panose="02040503050406030204" pitchFamily="18" charset="0"/>
                        </a:rPr>
                        <m:t>− 0.0805 ⋅</m:t>
                      </m:r>
                      <m:r>
                        <a:rPr lang="es-ES" sz="1000" b="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ES" sz="1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0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1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s-ES" sz="1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BFB1022-27BE-2DCA-065E-4997129A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1" y="5882078"/>
                <a:ext cx="11405703" cy="5469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9B574B5C-F1CF-81FB-BF0B-DDB5AD0D70FE}"/>
              </a:ext>
            </a:extLst>
          </p:cNvPr>
          <p:cNvSpPr txBox="1"/>
          <p:nvPr/>
        </p:nvSpPr>
        <p:spPr>
          <a:xfrm>
            <a:off x="10340388" y="4052703"/>
            <a:ext cx="1546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AUC Global: 0.9944</a:t>
            </a:r>
          </a:p>
          <a:p>
            <a:r>
              <a:rPr lang="es-ES" sz="1000" dirty="0"/>
              <a:t>Alta: 0.996</a:t>
            </a:r>
          </a:p>
          <a:p>
            <a:r>
              <a:rPr lang="es-ES" sz="1000" dirty="0"/>
              <a:t>Moderada: 0.991</a:t>
            </a:r>
          </a:p>
          <a:p>
            <a:r>
              <a:rPr lang="es-ES" sz="1000" dirty="0"/>
              <a:t>Baja: 0.998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23A953-5783-F6DD-196B-C5D6EF2E16D7}"/>
              </a:ext>
            </a:extLst>
          </p:cNvPr>
          <p:cNvSpPr txBox="1"/>
          <p:nvPr/>
        </p:nvSpPr>
        <p:spPr>
          <a:xfrm>
            <a:off x="7436142" y="840178"/>
            <a:ext cx="3240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Matriz de confusión: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72EA435-3FE2-6D0D-CA27-464B81C4B800}"/>
              </a:ext>
            </a:extLst>
          </p:cNvPr>
          <p:cNvSpPr txBox="1"/>
          <p:nvPr/>
        </p:nvSpPr>
        <p:spPr>
          <a:xfrm>
            <a:off x="7839554" y="1961667"/>
            <a:ext cx="2433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Métricas de evaluación: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7CC78F1-D30E-368E-8E4F-ABE19D84A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984781"/>
              </p:ext>
            </p:extLst>
          </p:nvPr>
        </p:nvGraphicFramePr>
        <p:xfrm>
          <a:off x="6888724" y="2219959"/>
          <a:ext cx="4335579" cy="609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9462">
                  <a:extLst>
                    <a:ext uri="{9D8B030D-6E8A-4147-A177-3AD203B41FA5}">
                      <a16:colId xmlns:a16="http://schemas.microsoft.com/office/drawing/2014/main" val="1742174769"/>
                    </a:ext>
                  </a:extLst>
                </a:gridCol>
                <a:gridCol w="1031548">
                  <a:extLst>
                    <a:ext uri="{9D8B030D-6E8A-4147-A177-3AD203B41FA5}">
                      <a16:colId xmlns:a16="http://schemas.microsoft.com/office/drawing/2014/main" val="1830152861"/>
                    </a:ext>
                  </a:extLst>
                </a:gridCol>
                <a:gridCol w="1004580">
                  <a:extLst>
                    <a:ext uri="{9D8B030D-6E8A-4147-A177-3AD203B41FA5}">
                      <a16:colId xmlns:a16="http://schemas.microsoft.com/office/drawing/2014/main" val="2856114876"/>
                    </a:ext>
                  </a:extLst>
                </a:gridCol>
                <a:gridCol w="1039989">
                  <a:extLst>
                    <a:ext uri="{9D8B030D-6E8A-4147-A177-3AD203B41FA5}">
                      <a16:colId xmlns:a16="http://schemas.microsoft.com/office/drawing/2014/main" val="2409498026"/>
                    </a:ext>
                  </a:extLst>
                </a:gridCol>
              </a:tblGrid>
              <a:tr h="1433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Clase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Precisión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Recall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F1-score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431997"/>
                  </a:ext>
                </a:extLst>
              </a:tr>
              <a:tr h="652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0.8846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0.7931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0.8363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3031561"/>
                  </a:ext>
                </a:extLst>
              </a:tr>
              <a:tr h="744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Moderada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0.9510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0.9615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0.9562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217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0.9658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0.9741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 indent="23939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0.9699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336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2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E7BBC-2C6C-299A-B526-42564DEF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9" y="-410118"/>
            <a:ext cx="5540188" cy="1600200"/>
          </a:xfrm>
        </p:spPr>
        <p:txBody>
          <a:bodyPr>
            <a:normAutofit/>
          </a:bodyPr>
          <a:lstStyle/>
          <a:p>
            <a:pPr algn="ctr"/>
            <a:r>
              <a:rPr lang="es-ES" sz="2800" dirty="0"/>
              <a:t>Modelo LDA: Clasificación de niveles de afectación por CCAA: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C59E35-B346-2D7A-D3D0-C9F09E04A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2880" y="1190082"/>
            <a:ext cx="4559205" cy="516367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Interpretación: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LD1 explica entre el 85% y 95% de la variabilidad, estructurando claramente los niveles de malestar psicológico.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F1-Score elevada en los casos de baja y moderada afectación (&gt; 85%).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Los casos de alta afectación presentan un menor F1-Score, pero con resultados aceptables.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componente mas influyente en todas las comunidades es PC1, vinculado al malestar emocional general.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Existen diferencias regionales en los factores secundarios :</a:t>
            </a:r>
          </a:p>
          <a:p>
            <a:pPr marL="1200150" lvl="2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Algunas regiones muestran más peso de síntomas físicos (Andalucía).</a:t>
            </a:r>
          </a:p>
          <a:p>
            <a:pPr marL="1200150" lvl="2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En otras predominan los factores económicos o familiares (Galicia y Castilla y León).</a:t>
            </a:r>
          </a:p>
          <a:p>
            <a:pPr marL="1200150" lvl="2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En Madrid, destaca la influencia del entorno profesional.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endParaRPr lang="es-ES" dirty="0"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Conclusión: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modelo LDA muestra un rendimiento sólido y estable en todas las CCAA, discriminando eficazmente los distintos niveles de afectación.</a:t>
            </a:r>
          </a:p>
          <a:p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B7F01F0-E1A0-36FB-850D-7318DFE8A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66275"/>
              </p:ext>
            </p:extLst>
          </p:nvPr>
        </p:nvGraphicFramePr>
        <p:xfrm>
          <a:off x="5468078" y="1190082"/>
          <a:ext cx="6441533" cy="4717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1251">
                  <a:extLst>
                    <a:ext uri="{9D8B030D-6E8A-4147-A177-3AD203B41FA5}">
                      <a16:colId xmlns:a16="http://schemas.microsoft.com/office/drawing/2014/main" val="426938164"/>
                    </a:ext>
                  </a:extLst>
                </a:gridCol>
                <a:gridCol w="439361">
                  <a:extLst>
                    <a:ext uri="{9D8B030D-6E8A-4147-A177-3AD203B41FA5}">
                      <a16:colId xmlns:a16="http://schemas.microsoft.com/office/drawing/2014/main" val="2499686986"/>
                    </a:ext>
                  </a:extLst>
                </a:gridCol>
                <a:gridCol w="618715">
                  <a:extLst>
                    <a:ext uri="{9D8B030D-6E8A-4147-A177-3AD203B41FA5}">
                      <a16:colId xmlns:a16="http://schemas.microsoft.com/office/drawing/2014/main" val="123266541"/>
                    </a:ext>
                  </a:extLst>
                </a:gridCol>
                <a:gridCol w="679076">
                  <a:extLst>
                    <a:ext uri="{9D8B030D-6E8A-4147-A177-3AD203B41FA5}">
                      <a16:colId xmlns:a16="http://schemas.microsoft.com/office/drawing/2014/main" val="813907721"/>
                    </a:ext>
                  </a:extLst>
                </a:gridCol>
                <a:gridCol w="598395">
                  <a:extLst>
                    <a:ext uri="{9D8B030D-6E8A-4147-A177-3AD203B41FA5}">
                      <a16:colId xmlns:a16="http://schemas.microsoft.com/office/drawing/2014/main" val="2993677429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1658599750"/>
                    </a:ext>
                  </a:extLst>
                </a:gridCol>
                <a:gridCol w="605118">
                  <a:extLst>
                    <a:ext uri="{9D8B030D-6E8A-4147-A177-3AD203B41FA5}">
                      <a16:colId xmlns:a16="http://schemas.microsoft.com/office/drawing/2014/main" val="361486104"/>
                    </a:ext>
                  </a:extLst>
                </a:gridCol>
                <a:gridCol w="1540744">
                  <a:extLst>
                    <a:ext uri="{9D8B030D-6E8A-4147-A177-3AD203B41FA5}">
                      <a16:colId xmlns:a16="http://schemas.microsoft.com/office/drawing/2014/main" val="2772695461"/>
                    </a:ext>
                  </a:extLst>
                </a:gridCol>
                <a:gridCol w="760309">
                  <a:extLst>
                    <a:ext uri="{9D8B030D-6E8A-4147-A177-3AD203B41FA5}">
                      <a16:colId xmlns:a16="http://schemas.microsoft.com/office/drawing/2014/main" val="1391284457"/>
                    </a:ext>
                  </a:extLst>
                </a:gridCol>
              </a:tblGrid>
              <a:tr h="349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CCAA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% LD1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Baja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Moderada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Global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AUC Global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PC más influyentes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Clase más difícil de clasificar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18946"/>
                  </a:ext>
                </a:extLst>
              </a:tr>
              <a:tr h="7898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Andalucía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93.61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0.956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0.836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0.920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PC1 (malestar psicológico), PC2 (síntomas físicos), PC4 (contexto profesional), PC8 (diferenciación síntomas)</a:t>
                      </a: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extLst>
                  <a:ext uri="{0D108BD9-81ED-4DB2-BD59-A6C34878D82A}">
                    <a16:rowId xmlns:a16="http://schemas.microsoft.com/office/drawing/2014/main" val="1961305281"/>
                  </a:ext>
                </a:extLst>
              </a:tr>
              <a:tr h="7898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Castilla y León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92.21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0.927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0.853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0.800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0.860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0.984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PC1 (malestar emocional), PC6 (exposición y riesgo), PC9 (miedo e hipervigilancia), PC4 (impacto contagio) 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extLst>
                  <a:ext uri="{0D108BD9-81ED-4DB2-BD59-A6C34878D82A}">
                    <a16:rowId xmlns:a16="http://schemas.microsoft.com/office/drawing/2014/main" val="1019338911"/>
                  </a:ext>
                </a:extLst>
              </a:tr>
              <a:tr h="7898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Galicia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87.34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0.956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0.889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0.938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PC1 (malestar general), PC3 (factores económicos y antecedentes), PC9 (carga emocional familiar), PC13 (miedo/aislamiento)</a:t>
                      </a: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extLst>
                  <a:ext uri="{0D108BD9-81ED-4DB2-BD59-A6C34878D82A}">
                    <a16:rowId xmlns:a16="http://schemas.microsoft.com/office/drawing/2014/main" val="2541226624"/>
                  </a:ext>
                </a:extLst>
              </a:tr>
              <a:tr h="9081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Madrid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95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0.880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0.936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PC1 (malestar emocional y ansiedad), PC13 (expresión emocional), PC12 (preocupación actual), PC4 (preocupaciones socioeconómicas) 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extLst>
                  <a:ext uri="{0D108BD9-81ED-4DB2-BD59-A6C34878D82A}">
                    <a16:rowId xmlns:a16="http://schemas.microsoft.com/office/drawing/2014/main" val="2274074669"/>
                  </a:ext>
                </a:extLst>
              </a:tr>
              <a:tr h="1026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País Vasco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85.59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0.970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0.963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0.977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PC1 (preocupación y evitación), PC12 (preocupación salud vs emoción), PC11 (desesperanza vs síntomas físicos), PC14 (contraste emocional/físico) 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152" marR="37152" marT="0" marB="0" anchor="ctr"/>
                </a:tc>
                <a:extLst>
                  <a:ext uri="{0D108BD9-81ED-4DB2-BD59-A6C34878D82A}">
                    <a16:rowId xmlns:a16="http://schemas.microsoft.com/office/drawing/2014/main" val="344864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105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490D5-D818-D80F-883A-041DACD3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3" y="-351050"/>
            <a:ext cx="5808436" cy="1600200"/>
          </a:xfrm>
        </p:spPr>
        <p:txBody>
          <a:bodyPr>
            <a:normAutofit/>
          </a:bodyPr>
          <a:lstStyle/>
          <a:p>
            <a:pPr algn="ctr"/>
            <a:r>
              <a:rPr lang="es-ES" sz="2400" dirty="0"/>
              <a:t>Modelo RF: Clasificación del impacto en la salud mental – RF Andalucía: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50DE2F-96F0-EA6F-51F2-3E454D7C3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6924" y="1360892"/>
            <a:ext cx="5466183" cy="45221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Interpretación: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modelo muestra un buen rendimiento para clasificar los casos de moderada y baja afectación.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La alta afectación presenta una mayor tasa de error con respecto a las otras clases, lo que indica dificultades en su detección.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Las variables mas influyentes en los casos más graves son los síntomas emocionales representados por las variables P11 (nerviosismo, ansiedad, desesperanza).</a:t>
            </a:r>
          </a:p>
          <a:p>
            <a:pPr lvl="1"/>
            <a:endParaRPr lang="es-E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Conclusión: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modelo RF demuestra ser una buena herramienta de clasificación para clasificar los niveles de afectación en Andalucía, especialmente para la baja y moderada afectación.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El rendimiento del modelo para clasificar niveles de alta afectación es limitado, por lo que se requerirían mejoras, como añadir variables adicionales, para optimizar su detección.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F824545-E358-DE98-7FC4-9FBA26A1F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97817"/>
              </p:ext>
            </p:extLst>
          </p:nvPr>
        </p:nvGraphicFramePr>
        <p:xfrm>
          <a:off x="6339578" y="1116648"/>
          <a:ext cx="4845878" cy="755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0726">
                  <a:extLst>
                    <a:ext uri="{9D8B030D-6E8A-4147-A177-3AD203B41FA5}">
                      <a16:colId xmlns:a16="http://schemas.microsoft.com/office/drawing/2014/main" val="681144147"/>
                    </a:ext>
                  </a:extLst>
                </a:gridCol>
                <a:gridCol w="893604">
                  <a:extLst>
                    <a:ext uri="{9D8B030D-6E8A-4147-A177-3AD203B41FA5}">
                      <a16:colId xmlns:a16="http://schemas.microsoft.com/office/drawing/2014/main" val="1060222018"/>
                    </a:ext>
                  </a:extLst>
                </a:gridCol>
                <a:gridCol w="1135270">
                  <a:extLst>
                    <a:ext uri="{9D8B030D-6E8A-4147-A177-3AD203B41FA5}">
                      <a16:colId xmlns:a16="http://schemas.microsoft.com/office/drawing/2014/main" val="2494302898"/>
                    </a:ext>
                  </a:extLst>
                </a:gridCol>
                <a:gridCol w="883478">
                  <a:extLst>
                    <a:ext uri="{9D8B030D-6E8A-4147-A177-3AD203B41FA5}">
                      <a16:colId xmlns:a16="http://schemas.microsoft.com/office/drawing/2014/main" val="283929429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36329339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Clase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Moderada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Baja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Error de clase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362763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9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34.61%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40349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180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2.17%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056669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103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11.96%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9224362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CEB699A-69F5-A45A-CA1D-32175CDC9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709299"/>
              </p:ext>
            </p:extLst>
          </p:nvPr>
        </p:nvGraphicFramePr>
        <p:xfrm>
          <a:off x="7088709" y="2185903"/>
          <a:ext cx="3347614" cy="8362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014">
                  <a:extLst>
                    <a:ext uri="{9D8B030D-6E8A-4147-A177-3AD203B41FA5}">
                      <a16:colId xmlns:a16="http://schemas.microsoft.com/office/drawing/2014/main" val="1260036970"/>
                    </a:ext>
                  </a:extLst>
                </a:gridCol>
                <a:gridCol w="706783">
                  <a:extLst>
                    <a:ext uri="{9D8B030D-6E8A-4147-A177-3AD203B41FA5}">
                      <a16:colId xmlns:a16="http://schemas.microsoft.com/office/drawing/2014/main" val="1442281850"/>
                    </a:ext>
                  </a:extLst>
                </a:gridCol>
                <a:gridCol w="662608">
                  <a:extLst>
                    <a:ext uri="{9D8B030D-6E8A-4147-A177-3AD203B41FA5}">
                      <a16:colId xmlns:a16="http://schemas.microsoft.com/office/drawing/2014/main" val="1291031706"/>
                    </a:ext>
                  </a:extLst>
                </a:gridCol>
                <a:gridCol w="764209">
                  <a:extLst>
                    <a:ext uri="{9D8B030D-6E8A-4147-A177-3AD203B41FA5}">
                      <a16:colId xmlns:a16="http://schemas.microsoft.com/office/drawing/2014/main" val="1772696237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Clase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Precisión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Recall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F1-Score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61883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0.895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0.654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0.756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3686797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0.887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0.978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0.939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5115454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0.981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0.880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0.928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4352681"/>
                  </a:ext>
                </a:extLst>
              </a:tr>
            </a:tbl>
          </a:graphicData>
        </a:graphic>
      </p:graphicFrame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D489582B-CF5A-80E3-EFD2-C8048E94F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051" y="3076796"/>
            <a:ext cx="2596293" cy="2520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4372378-0C34-B119-84E1-2B5E21B8CFEE}"/>
              </a:ext>
            </a:extLst>
          </p:cNvPr>
          <p:cNvSpPr txBox="1"/>
          <p:nvPr/>
        </p:nvSpPr>
        <p:spPr>
          <a:xfrm>
            <a:off x="9871006" y="5528283"/>
            <a:ext cx="2628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AUC Global: 0.9852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C0D313-FB93-8C89-C4EB-B75EA8330AC5}"/>
              </a:ext>
            </a:extLst>
          </p:cNvPr>
          <p:cNvSpPr txBox="1"/>
          <p:nvPr/>
        </p:nvSpPr>
        <p:spPr>
          <a:xfrm>
            <a:off x="7407726" y="901204"/>
            <a:ext cx="2709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Matriz de confusión OOB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06541F-3A16-518B-775B-51431303BF7B}"/>
              </a:ext>
            </a:extLst>
          </p:cNvPr>
          <p:cNvSpPr txBox="1"/>
          <p:nvPr/>
        </p:nvSpPr>
        <p:spPr>
          <a:xfrm>
            <a:off x="7479722" y="1970459"/>
            <a:ext cx="2565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Métricas de evaluación:</a:t>
            </a:r>
          </a:p>
        </p:txBody>
      </p:sp>
      <p:pic>
        <p:nvPicPr>
          <p:cNvPr id="7" name="Imagen 6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84372810-8BBA-C111-0FCB-00D4EE339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432" y="3119673"/>
            <a:ext cx="259629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9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5A280-4381-5B3E-35B8-7521590B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10152"/>
            <a:ext cx="12192000" cy="1600200"/>
          </a:xfrm>
        </p:spPr>
        <p:txBody>
          <a:bodyPr>
            <a:normAutofit/>
          </a:bodyPr>
          <a:lstStyle/>
          <a:p>
            <a:pPr algn="ctr"/>
            <a:r>
              <a:rPr lang="es-ES" sz="2800" dirty="0"/>
              <a:t>Modelo RF: Clasificación de niveles de afectación por CCAA: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596E94-5BA2-2D19-1C81-0E17D98DE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106" y="1204892"/>
            <a:ext cx="4608846" cy="502247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Interpretación: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modelo RF tiene un buen rendimiento en la detección de la baja y moderada afectación (F1-Score &gt; 85% en la mayoría de las CCAA).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La detección en los casos de alta afectación es limitada, en especial en el País Vasco.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Las variables clave para la alta afectación fueron los síntomas emocionales: ansiedad, nerviosismo, agobio, fatiga.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Existen diferencias regionales en estas variables clave: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En Andalucía destacan otras como la ira o desesperanza.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En Castilla y León y Galicia muestran mayor presencia de dificultad para relajarse.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En Madrid resaltan síntomas relacionados a la fatiga emocional y al control de emociones.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s-ES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Conclusión: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modelo RF es robusto a la hora de clasificar niveles bajos y moderados de afectación emocional.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Presenta limitaciones en la detección de casos graves en todas las CCAA.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96A515C-C239-1800-7D22-022B7B5DA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410934"/>
              </p:ext>
            </p:extLst>
          </p:nvPr>
        </p:nvGraphicFramePr>
        <p:xfrm>
          <a:off x="5757803" y="1204892"/>
          <a:ext cx="5879025" cy="4356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3459">
                  <a:extLst>
                    <a:ext uri="{9D8B030D-6E8A-4147-A177-3AD203B41FA5}">
                      <a16:colId xmlns:a16="http://schemas.microsoft.com/office/drawing/2014/main" val="2710457435"/>
                    </a:ext>
                  </a:extLst>
                </a:gridCol>
                <a:gridCol w="532809">
                  <a:extLst>
                    <a:ext uri="{9D8B030D-6E8A-4147-A177-3AD203B41FA5}">
                      <a16:colId xmlns:a16="http://schemas.microsoft.com/office/drawing/2014/main" val="260354974"/>
                    </a:ext>
                  </a:extLst>
                </a:gridCol>
                <a:gridCol w="605117">
                  <a:extLst>
                    <a:ext uri="{9D8B030D-6E8A-4147-A177-3AD203B41FA5}">
                      <a16:colId xmlns:a16="http://schemas.microsoft.com/office/drawing/2014/main" val="32219003"/>
                    </a:ext>
                  </a:extLst>
                </a:gridCol>
                <a:gridCol w="642105">
                  <a:extLst>
                    <a:ext uri="{9D8B030D-6E8A-4147-A177-3AD203B41FA5}">
                      <a16:colId xmlns:a16="http://schemas.microsoft.com/office/drawing/2014/main" val="210155506"/>
                    </a:ext>
                  </a:extLst>
                </a:gridCol>
                <a:gridCol w="677488">
                  <a:extLst>
                    <a:ext uri="{9D8B030D-6E8A-4147-A177-3AD203B41FA5}">
                      <a16:colId xmlns:a16="http://schemas.microsoft.com/office/drawing/2014/main" val="3117075388"/>
                    </a:ext>
                  </a:extLst>
                </a:gridCol>
                <a:gridCol w="509207">
                  <a:extLst>
                    <a:ext uri="{9D8B030D-6E8A-4147-A177-3AD203B41FA5}">
                      <a16:colId xmlns:a16="http://schemas.microsoft.com/office/drawing/2014/main" val="690255885"/>
                    </a:ext>
                  </a:extLst>
                </a:gridCol>
                <a:gridCol w="442369">
                  <a:extLst>
                    <a:ext uri="{9D8B030D-6E8A-4147-A177-3AD203B41FA5}">
                      <a16:colId xmlns:a16="http://schemas.microsoft.com/office/drawing/2014/main" val="2556535466"/>
                    </a:ext>
                  </a:extLst>
                </a:gridCol>
                <a:gridCol w="1135335">
                  <a:extLst>
                    <a:ext uri="{9D8B030D-6E8A-4147-A177-3AD203B41FA5}">
                      <a16:colId xmlns:a16="http://schemas.microsoft.com/office/drawing/2014/main" val="816259557"/>
                    </a:ext>
                  </a:extLst>
                </a:gridCol>
                <a:gridCol w="691136">
                  <a:extLst>
                    <a:ext uri="{9D8B030D-6E8A-4147-A177-3AD203B41FA5}">
                      <a16:colId xmlns:a16="http://schemas.microsoft.com/office/drawing/2014/main" val="385884701"/>
                    </a:ext>
                  </a:extLst>
                </a:gridCol>
              </a:tblGrid>
              <a:tr h="516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  <a:latin typeface="+mn-lt"/>
                        </a:rPr>
                        <a:t>CCAA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  <a:latin typeface="+mn-lt"/>
                        </a:rPr>
                        <a:t>Error de clase Global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F1-Score Baja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F1-Score Moderada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F1-Score Alta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F1-Score Global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AUC Global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Variables mas influyentes (Alta Afectación)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Clase más difícil de clasificar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232450"/>
                  </a:ext>
                </a:extLst>
              </a:tr>
              <a:tr h="1037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Andalucía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8.25%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0.928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0.939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0.756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0.874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0.985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Síntomas emocionales intensos (P11_7 nervioso, P11_6 ira, P11_1 ansiedad, P5_4 incapacidad controlar preocupaciones, P5_2 desesperanza)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Alta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extLst>
                  <a:ext uri="{0D108BD9-81ED-4DB2-BD59-A6C34878D82A}">
                    <a16:rowId xmlns:a16="http://schemas.microsoft.com/office/drawing/2014/main" val="3858453448"/>
                  </a:ext>
                </a:extLst>
              </a:tr>
              <a:tr h="6893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Castilla y León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17%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0.885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0.779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0.600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0.754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0.923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Ansiedad, agobio, inquietud, dificultad para relajarse (P11_1, P11_8, P11_7, P6_4)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Alta Afectación y problemas en Moderada Afectación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extLst>
                  <a:ext uri="{0D108BD9-81ED-4DB2-BD59-A6C34878D82A}">
                    <a16:rowId xmlns:a16="http://schemas.microsoft.com/office/drawing/2014/main" val="669040236"/>
                  </a:ext>
                </a:extLst>
              </a:tr>
              <a:tr h="7004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Galicia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  <a:latin typeface="+mn-lt"/>
                        </a:rPr>
                        <a:t>6.93%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0.957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0.935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0.667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0.853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0.977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Ansiedad, agobio, dificultad para relajarse (P6_3, P11_1, P5_3)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Alta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extLst>
                  <a:ext uri="{0D108BD9-81ED-4DB2-BD59-A6C34878D82A}">
                    <a16:rowId xmlns:a16="http://schemas.microsoft.com/office/drawing/2014/main" val="1137821137"/>
                  </a:ext>
                </a:extLst>
              </a:tr>
              <a:tr h="703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Madrid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9.62%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0.918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0.910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0.588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0.805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0.970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Inquietud, agobio, fatiga emocional (P11_7, P11_8, P12_7)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Alta Afectación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extLst>
                  <a:ext uri="{0D108BD9-81ED-4DB2-BD59-A6C34878D82A}">
                    <a16:rowId xmlns:a16="http://schemas.microsoft.com/office/drawing/2014/main" val="370512709"/>
                  </a:ext>
                </a:extLst>
              </a:tr>
              <a:tr h="703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País Vasco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13.11%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0.899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0.846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-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0.581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0.583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  <a:latin typeface="+mn-lt"/>
                        </a:rPr>
                        <a:t>-</a:t>
                      </a:r>
                      <a:endParaRPr lang="es-ES" sz="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  <a:latin typeface="+mn-lt"/>
                        </a:rPr>
                        <a:t>No detecta Alta Afectación</a:t>
                      </a:r>
                      <a:endParaRPr lang="es-ES" sz="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380" marR="45380" marT="0" marB="0" anchor="ctr"/>
                </a:tc>
                <a:extLst>
                  <a:ext uri="{0D108BD9-81ED-4DB2-BD59-A6C34878D82A}">
                    <a16:rowId xmlns:a16="http://schemas.microsoft.com/office/drawing/2014/main" val="405652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39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5A0D9-688E-9760-E2AD-F8F73CB9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05120"/>
            <a:ext cx="12192000" cy="1600200"/>
          </a:xfrm>
        </p:spPr>
        <p:txBody>
          <a:bodyPr>
            <a:normAutofit/>
          </a:bodyPr>
          <a:lstStyle/>
          <a:p>
            <a:pPr algn="ctr"/>
            <a:r>
              <a:rPr lang="es-ES" sz="2800" dirty="0"/>
              <a:t>Comparativa LDA vs RF: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CDA92E-6BB1-BE8C-26E2-28171A91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3065" y="995080"/>
            <a:ext cx="5614800" cy="578223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Rendimiento global: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modelo LDA logra una mayor precisión y capacidad discriminativa (AUC &gt; 0.98 en las 5 CCAA)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El modelo RF tiene buen desempeño a la hora de clasificar la baja y moderada afectación, pero tiene menor precisión en casos graves.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Alta afectación: 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LDA detecta mejor los casos críticos (F1-Score &gt; 0.8)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RF muestra fallos importantes, especialmente en el modelo de País Vasco (F1-Score = 0)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Variables predictoras: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LDA usa componentes sintéticos (PC1 = Malestar psicológico, PC2 = síntomas físicos, etc.).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RF emplea variables directas: ansiedad, nerviosismo, agotamiento, agobio, etc.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s-ES" sz="12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Conclusión: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LDA ofrece mayor estabilidad y precisión en general.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RF aporta flexibilidad, pero requiere mejoras en la detección en la alta afectación.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4B65C05-E1B9-0036-809F-2316F23DA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414153"/>
              </p:ext>
            </p:extLst>
          </p:nvPr>
        </p:nvGraphicFramePr>
        <p:xfrm>
          <a:off x="6447865" y="1776490"/>
          <a:ext cx="5182928" cy="23574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2604">
                  <a:extLst>
                    <a:ext uri="{9D8B030D-6E8A-4147-A177-3AD203B41FA5}">
                      <a16:colId xmlns:a16="http://schemas.microsoft.com/office/drawing/2014/main" val="2443230522"/>
                    </a:ext>
                  </a:extLst>
                </a:gridCol>
                <a:gridCol w="691768">
                  <a:extLst>
                    <a:ext uri="{9D8B030D-6E8A-4147-A177-3AD203B41FA5}">
                      <a16:colId xmlns:a16="http://schemas.microsoft.com/office/drawing/2014/main" val="3122651322"/>
                    </a:ext>
                  </a:extLst>
                </a:gridCol>
                <a:gridCol w="666481">
                  <a:extLst>
                    <a:ext uri="{9D8B030D-6E8A-4147-A177-3AD203B41FA5}">
                      <a16:colId xmlns:a16="http://schemas.microsoft.com/office/drawing/2014/main" val="1729108963"/>
                    </a:ext>
                  </a:extLst>
                </a:gridCol>
                <a:gridCol w="740098">
                  <a:extLst>
                    <a:ext uri="{9D8B030D-6E8A-4147-A177-3AD203B41FA5}">
                      <a16:colId xmlns:a16="http://schemas.microsoft.com/office/drawing/2014/main" val="1794145817"/>
                    </a:ext>
                  </a:extLst>
                </a:gridCol>
                <a:gridCol w="740659">
                  <a:extLst>
                    <a:ext uri="{9D8B030D-6E8A-4147-A177-3AD203B41FA5}">
                      <a16:colId xmlns:a16="http://schemas.microsoft.com/office/drawing/2014/main" val="782734716"/>
                    </a:ext>
                  </a:extLst>
                </a:gridCol>
                <a:gridCol w="740659">
                  <a:extLst>
                    <a:ext uri="{9D8B030D-6E8A-4147-A177-3AD203B41FA5}">
                      <a16:colId xmlns:a16="http://schemas.microsoft.com/office/drawing/2014/main" val="3665110231"/>
                    </a:ext>
                  </a:extLst>
                </a:gridCol>
                <a:gridCol w="740659">
                  <a:extLst>
                    <a:ext uri="{9D8B030D-6E8A-4147-A177-3AD203B41FA5}">
                      <a16:colId xmlns:a16="http://schemas.microsoft.com/office/drawing/2014/main" val="3964384139"/>
                    </a:ext>
                  </a:extLst>
                </a:gridCol>
              </a:tblGrid>
              <a:tr h="603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CCAA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AUC LDA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AUC RF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Alta afectación LDA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Alta afectación RF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F1-Score Global LDA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F1-Score Global RF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29548"/>
                  </a:ext>
                </a:extLst>
              </a:tr>
              <a:tr h="350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Andalucía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0.985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0.83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0.76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2479216"/>
                  </a:ext>
                </a:extLst>
              </a:tr>
              <a:tr h="350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Castilla y León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0.984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0.923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0.60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0.86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0.75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2894716"/>
                  </a:ext>
                </a:extLst>
              </a:tr>
              <a:tr h="350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Galicia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0.997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0.977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0.67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0.85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1550225"/>
                  </a:ext>
                </a:extLst>
              </a:tr>
              <a:tr h="350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Madrid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0.970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0.59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0.94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0.81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4886718"/>
                  </a:ext>
                </a:extLst>
              </a:tr>
              <a:tr h="350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País Vasco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0.998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0.583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-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0.98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0.58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983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833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3772D-E19E-B9AE-46FC-66A3D680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595591"/>
            <a:ext cx="12191999" cy="1600200"/>
          </a:xfrm>
        </p:spPr>
        <p:txBody>
          <a:bodyPr>
            <a:normAutofit/>
          </a:bodyPr>
          <a:lstStyle/>
          <a:p>
            <a:pPr algn="ctr"/>
            <a:r>
              <a:rPr lang="es-ES" sz="2800" dirty="0"/>
              <a:t>Análisis de Clústeres – Clustering Andalucía: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27B216-32EA-0A35-2B64-508B48502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257" y="1062836"/>
            <a:ext cx="4567843" cy="535865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Introducción: se seleccionaron 3 clústeres óptimos que reflejan los diferentes niveles de afectación emociona, diferenciados además por perfiles sociodemográficos.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Perfiles identificados: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Clúster 1 (baja afectación): bajo malestar emocional y físico, predominan mujeres jóvenes, principalmente en las provincias de Cádiz y Córdoba.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Clúster 2 (afectación moderada): malestar medio, impacto emocional intermedio, equilibrio de género y edad.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Clúster 3 (alta afectación): síntomas intensos y mayor uso de apoyo psicológico, predominan hombres adultos y mayores en provincias mas pobladas, como Málaga.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Conclusión: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La pandemia impactó de manera heterogénea en Andalucía.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Los hombres adultos y mayores, especialmente en Málaga, fueron el grupo mas vulnerable.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dirty="0"/>
              <a:t>Las mujeres jóvenes muestran mas resiliencia frente al impacto causado por la pandemia.</a:t>
            </a:r>
          </a:p>
        </p:txBody>
      </p:sp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434AC72-DCD4-98A0-FE50-F43B601A3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350" y="1993527"/>
            <a:ext cx="2387036" cy="2316891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33FAFA39-A5D6-A40B-D555-A106C47E5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20347"/>
              </p:ext>
            </p:extLst>
          </p:nvPr>
        </p:nvGraphicFramePr>
        <p:xfrm>
          <a:off x="6026458" y="1092583"/>
          <a:ext cx="2980816" cy="457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204">
                  <a:extLst>
                    <a:ext uri="{9D8B030D-6E8A-4147-A177-3AD203B41FA5}">
                      <a16:colId xmlns:a16="http://schemas.microsoft.com/office/drawing/2014/main" val="3307076742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3441746835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2561116854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34193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Género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2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9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Hombre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23.61%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51.80%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74.14%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6253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Mujer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76.39%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48.20%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indent="5207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25.86%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081390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2DA7A19F-DED8-98ED-1EBF-51BF18A06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4534"/>
              </p:ext>
            </p:extLst>
          </p:nvPr>
        </p:nvGraphicFramePr>
        <p:xfrm>
          <a:off x="6026458" y="1665267"/>
          <a:ext cx="2980816" cy="13710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204">
                  <a:extLst>
                    <a:ext uri="{9D8B030D-6E8A-4147-A177-3AD203B41FA5}">
                      <a16:colId xmlns:a16="http://schemas.microsoft.com/office/drawing/2014/main" val="119353485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1980371234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1141870037"/>
                    </a:ext>
                  </a:extLst>
                </a:gridCol>
                <a:gridCol w="745204">
                  <a:extLst>
                    <a:ext uri="{9D8B030D-6E8A-4147-A177-3AD203B41FA5}">
                      <a16:colId xmlns:a16="http://schemas.microsoft.com/office/drawing/2014/main" val="3909979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Provincia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26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Almería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12.50%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7.91%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5.17%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462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Cádiz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18.06%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17.99%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12.93%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292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Córdoba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13.89%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5.76%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10.34%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622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Granada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9.72%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12.23%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11.21%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535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Huelva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5.56%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2.88%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6.03%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6931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Jaén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8.33%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11.51%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7.76%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7901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Málaga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9.72%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15.83%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24.14%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579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Sevilla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22.22%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25.90%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22.41%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2286218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7AC02BB-8E2B-6AC8-7DB6-BCAE75C6F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749083"/>
              </p:ext>
            </p:extLst>
          </p:nvPr>
        </p:nvGraphicFramePr>
        <p:xfrm>
          <a:off x="6026460" y="3151973"/>
          <a:ext cx="2980814" cy="1194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7411">
                  <a:extLst>
                    <a:ext uri="{9D8B030D-6E8A-4147-A177-3AD203B41FA5}">
                      <a16:colId xmlns:a16="http://schemas.microsoft.com/office/drawing/2014/main" val="574227909"/>
                    </a:ext>
                  </a:extLst>
                </a:gridCol>
                <a:gridCol w="753035">
                  <a:extLst>
                    <a:ext uri="{9D8B030D-6E8A-4147-A177-3AD203B41FA5}">
                      <a16:colId xmlns:a16="http://schemas.microsoft.com/office/drawing/2014/main" val="957779269"/>
                    </a:ext>
                  </a:extLst>
                </a:gridCol>
                <a:gridCol w="753035">
                  <a:extLst>
                    <a:ext uri="{9D8B030D-6E8A-4147-A177-3AD203B41FA5}">
                      <a16:colId xmlns:a16="http://schemas.microsoft.com/office/drawing/2014/main" val="3358663794"/>
                    </a:ext>
                  </a:extLst>
                </a:gridCol>
                <a:gridCol w="737333">
                  <a:extLst>
                    <a:ext uri="{9D8B030D-6E8A-4147-A177-3AD203B41FA5}">
                      <a16:colId xmlns:a16="http://schemas.microsoft.com/office/drawing/2014/main" val="4021854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Edad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428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Jóvenes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8.33%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11.51%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6.90%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888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Adultos emergentes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20.83%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20.86%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15.52%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9715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Adultos jóvenes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41.67%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35.97%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34.48%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966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Adultos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23.61%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25.90%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32.76%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7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Mayores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5.56%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5.76%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10.34%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8435852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84F1F08E-99E2-72D1-4317-05CA4C5E8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11565"/>
              </p:ext>
            </p:extLst>
          </p:nvPr>
        </p:nvGraphicFramePr>
        <p:xfrm>
          <a:off x="6026459" y="4462084"/>
          <a:ext cx="2980815" cy="17310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7493">
                  <a:extLst>
                    <a:ext uri="{9D8B030D-6E8A-4147-A177-3AD203B41FA5}">
                      <a16:colId xmlns:a16="http://schemas.microsoft.com/office/drawing/2014/main" val="4264524318"/>
                    </a:ext>
                  </a:extLst>
                </a:gridCol>
                <a:gridCol w="598394">
                  <a:extLst>
                    <a:ext uri="{9D8B030D-6E8A-4147-A177-3AD203B41FA5}">
                      <a16:colId xmlns:a16="http://schemas.microsoft.com/office/drawing/2014/main" val="1544832847"/>
                    </a:ext>
                  </a:extLst>
                </a:gridCol>
                <a:gridCol w="652182">
                  <a:extLst>
                    <a:ext uri="{9D8B030D-6E8A-4147-A177-3AD203B41FA5}">
                      <a16:colId xmlns:a16="http://schemas.microsoft.com/office/drawing/2014/main" val="2966077161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1302630232"/>
                    </a:ext>
                  </a:extLst>
                </a:gridCol>
                <a:gridCol w="798310">
                  <a:extLst>
                    <a:ext uri="{9D8B030D-6E8A-4147-A177-3AD203B41FA5}">
                      <a16:colId xmlns:a16="http://schemas.microsoft.com/office/drawing/2014/main" val="2332914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Nivel de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Síntomas Emocionales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Impacto Pandemia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Perfil predominante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30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1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Mujeres, adultos jóvenes, zonas menos urbanas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905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Medio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Medio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Mixto, distribución intermedia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1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Alto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Hombres, adultos y mayores, zonas urbanas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753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10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D4A6E-3466-9529-D061-56158221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2865"/>
            <a:ext cx="12192000" cy="1600200"/>
          </a:xfrm>
        </p:spPr>
        <p:txBody>
          <a:bodyPr>
            <a:normAutofit/>
          </a:bodyPr>
          <a:lstStyle/>
          <a:p>
            <a:pPr algn="ctr"/>
            <a:r>
              <a:rPr lang="es-ES" sz="2800" dirty="0"/>
              <a:t>Clustering: Clasificación de perfiles por CCAA: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E0542D-E268-8079-598C-B46A9CE92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583" y="1264024"/>
            <a:ext cx="5944254" cy="543261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Perfiles comunes según nivel de afectación: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Alta afectación: mujeres de 35-49 años y personas mayores en zonas urbanas..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Afectación moderada: perfil mixto en edad y género.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Baja afectación: hombres de 50-64 años, en áreas menos urbanas.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285750" indent="-285750">
              <a:lnSpc>
                <a:spcPct val="11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Otros aspectos sociodemográficos relevantes: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Género: aunque las mujeres lideran los perfiles de alta afectación, algunos hombres adultos también presentan malestar relevante en ciertas regiones.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Edad: los adultos de 35-49 años se concentran en perfiles con mayor malestar; los de 50-64 años tienden a baja afectación.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200" dirty="0"/>
              <a:t>Territorio: las provincias urbanas (Málaga, A Coruña, Valladolid, Burgos, Bizkaia) concentran mayor afectación. Zonas como León, Gipuzkoa o Segovia muestran más resiliencia, posiblemente por menor presión sanitaria.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1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55217A-FCD1-7152-3AB0-03B4A051B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051170"/>
              </p:ext>
            </p:extLst>
          </p:nvPr>
        </p:nvGraphicFramePr>
        <p:xfrm>
          <a:off x="6882652" y="1264024"/>
          <a:ext cx="4759139" cy="1916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9037">
                  <a:extLst>
                    <a:ext uri="{9D8B030D-6E8A-4147-A177-3AD203B41FA5}">
                      <a16:colId xmlns:a16="http://schemas.microsoft.com/office/drawing/2014/main" val="648550969"/>
                    </a:ext>
                  </a:extLst>
                </a:gridCol>
                <a:gridCol w="1390532">
                  <a:extLst>
                    <a:ext uri="{9D8B030D-6E8A-4147-A177-3AD203B41FA5}">
                      <a16:colId xmlns:a16="http://schemas.microsoft.com/office/drawing/2014/main" val="3307724833"/>
                    </a:ext>
                  </a:extLst>
                </a:gridCol>
                <a:gridCol w="1189785">
                  <a:extLst>
                    <a:ext uri="{9D8B030D-6E8A-4147-A177-3AD203B41FA5}">
                      <a16:colId xmlns:a16="http://schemas.microsoft.com/office/drawing/2014/main" val="2485269824"/>
                    </a:ext>
                  </a:extLst>
                </a:gridCol>
                <a:gridCol w="1189785">
                  <a:extLst>
                    <a:ext uri="{9D8B030D-6E8A-4147-A177-3AD203B41FA5}">
                      <a16:colId xmlns:a16="http://schemas.microsoft.com/office/drawing/2014/main" val="2231313599"/>
                    </a:ext>
                  </a:extLst>
                </a:gridCol>
              </a:tblGrid>
              <a:tr h="3295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Nivel de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Características emocionales, sociales y físicas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Impacto percibido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Perfil típico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588046"/>
                  </a:ext>
                </a:extLst>
              </a:tr>
              <a:tr h="6117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Alta afectación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Fuertes síntomas de ansiedad, tristeza, soledad, somatización y deterioro de relaciones sociales.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Alto impacto emocional, vital y económico.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Mujeres, adultos entre 35 y 49 años y personas mayores. Predomina el entorno urbano.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2465509"/>
                  </a:ext>
                </a:extLst>
              </a:tr>
              <a:tr h="4875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Malestar emocional y físico presente, pero sin llegar a niveles críticos.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Impacto percibido intermedio.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Perfil mixto en género y edad. Presencia común en provincias intermedias.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9010190"/>
                  </a:ext>
                </a:extLst>
              </a:tr>
              <a:tr h="4875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Estado emocional positivo, escasos síntomas físicos y buenas redes sociales.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Escaso impacto percibido.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Hombres entre 50 y 64 años, especialmente en zonas menos urbanas.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203486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838A2F6-85BB-C3E6-3F5C-4FAAC5813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232001"/>
              </p:ext>
            </p:extLst>
          </p:nvPr>
        </p:nvGraphicFramePr>
        <p:xfrm>
          <a:off x="6882652" y="3523319"/>
          <a:ext cx="4759138" cy="9140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381">
                  <a:extLst>
                    <a:ext uri="{9D8B030D-6E8A-4147-A177-3AD203B41FA5}">
                      <a16:colId xmlns:a16="http://schemas.microsoft.com/office/drawing/2014/main" val="2288786191"/>
                    </a:ext>
                  </a:extLst>
                </a:gridCol>
                <a:gridCol w="1145430">
                  <a:extLst>
                    <a:ext uri="{9D8B030D-6E8A-4147-A177-3AD203B41FA5}">
                      <a16:colId xmlns:a16="http://schemas.microsoft.com/office/drawing/2014/main" val="2765030971"/>
                    </a:ext>
                  </a:extLst>
                </a:gridCol>
                <a:gridCol w="1136225">
                  <a:extLst>
                    <a:ext uri="{9D8B030D-6E8A-4147-A177-3AD203B41FA5}">
                      <a16:colId xmlns:a16="http://schemas.microsoft.com/office/drawing/2014/main" val="2149193994"/>
                    </a:ext>
                  </a:extLst>
                </a:gridCol>
                <a:gridCol w="1073102">
                  <a:extLst>
                    <a:ext uri="{9D8B030D-6E8A-4147-A177-3AD203B41FA5}">
                      <a16:colId xmlns:a16="http://schemas.microsoft.com/office/drawing/2014/main" val="1265425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Comunidad Autónoma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1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>
                          <a:effectLst/>
                        </a:rPr>
                        <a:t>Clúster 2</a:t>
                      </a:r>
                      <a:endParaRPr lang="es-E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Clúster 3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52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Andalucía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001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Castilla y León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1603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Galicia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384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Madrid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8556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País Vasco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Moderada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800" kern="100" dirty="0">
                          <a:effectLst/>
                        </a:rPr>
                        <a:t>Alta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kern="100" dirty="0">
                          <a:effectLst/>
                        </a:rPr>
                        <a:t>Baja afectación</a:t>
                      </a:r>
                      <a:endParaRPr lang="es-E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370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7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E5BFC5-F35F-FF22-202B-7C5CDAFB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85" y="-57786"/>
            <a:ext cx="40386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Conclusiones: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DCB7F6-77CC-98F6-C0A5-85075D777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02214" y="844611"/>
            <a:ext cx="5257801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Este </a:t>
            </a:r>
            <a:r>
              <a:rPr lang="en-US" sz="1400" dirty="0" err="1"/>
              <a:t>estudio</a:t>
            </a:r>
            <a:r>
              <a:rPr lang="en-US" sz="1400" dirty="0"/>
              <a:t> </a:t>
            </a:r>
            <a:r>
              <a:rPr lang="en-US" sz="1400" dirty="0" err="1"/>
              <a:t>analizó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impacto</a:t>
            </a:r>
            <a:r>
              <a:rPr lang="en-US" sz="1400" dirty="0"/>
              <a:t> de la COVID-19 en la salud mental en </a:t>
            </a:r>
            <a:r>
              <a:rPr lang="en-US" sz="1400" dirty="0" err="1"/>
              <a:t>cinco</a:t>
            </a:r>
            <a:r>
              <a:rPr lang="en-US" sz="1400" dirty="0"/>
              <a:t> </a:t>
            </a:r>
            <a:r>
              <a:rPr lang="en-US" sz="1400" dirty="0" err="1"/>
              <a:t>comunidades</a:t>
            </a:r>
            <a:r>
              <a:rPr lang="en-US" sz="1400" dirty="0"/>
              <a:t> </a:t>
            </a:r>
            <a:r>
              <a:rPr lang="en-US" sz="1400" dirty="0" err="1"/>
              <a:t>autónomas</a:t>
            </a:r>
            <a:r>
              <a:rPr lang="en-US" sz="1400" dirty="0"/>
              <a:t> de España </a:t>
            </a:r>
            <a:r>
              <a:rPr lang="en-US" sz="1400" dirty="0" err="1"/>
              <a:t>mediante</a:t>
            </a:r>
            <a:r>
              <a:rPr lang="en-US" sz="1400" dirty="0"/>
              <a:t> </a:t>
            </a:r>
            <a:r>
              <a:rPr lang="en-US" sz="1400" dirty="0" err="1"/>
              <a:t>técnicas</a:t>
            </a:r>
            <a:r>
              <a:rPr lang="en-US" sz="1400" dirty="0"/>
              <a:t> </a:t>
            </a:r>
            <a:r>
              <a:rPr lang="en-US" sz="1400" dirty="0" err="1"/>
              <a:t>estadísticas</a:t>
            </a:r>
            <a:endParaRPr lang="en-US" sz="1400" dirty="0"/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 </a:t>
            </a:r>
            <a:r>
              <a:rPr lang="en-US" sz="1400" dirty="0" err="1"/>
              <a:t>salud</a:t>
            </a:r>
            <a:r>
              <a:rPr lang="en-US" sz="1400" dirty="0"/>
              <a:t> mental es multidimensional y </a:t>
            </a:r>
            <a:r>
              <a:rPr lang="en-US" sz="1400" dirty="0" err="1"/>
              <a:t>heterogénea</a:t>
            </a:r>
            <a:r>
              <a:rPr lang="en-US" sz="1400" dirty="0"/>
              <a:t>,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análisis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clústeres</a:t>
            </a:r>
            <a:r>
              <a:rPr lang="en-US" sz="1400" dirty="0"/>
              <a:t>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en-US" sz="1400" dirty="0" err="1"/>
              <a:t>identificar</a:t>
            </a:r>
            <a:r>
              <a:rPr lang="en-US" sz="1400" dirty="0"/>
              <a:t> </a:t>
            </a:r>
            <a:r>
              <a:rPr lang="en-US" sz="1400" dirty="0" err="1"/>
              <a:t>perfiles</a:t>
            </a:r>
            <a:r>
              <a:rPr lang="en-US" sz="1400" dirty="0"/>
              <a:t> </a:t>
            </a:r>
            <a:r>
              <a:rPr lang="en-US" sz="1400" dirty="0" err="1"/>
              <a:t>diferenciados</a:t>
            </a:r>
            <a:r>
              <a:rPr lang="en-US" sz="1400" dirty="0"/>
              <a:t> para </a:t>
            </a:r>
            <a:r>
              <a:rPr lang="en-US" sz="1400" dirty="0" err="1"/>
              <a:t>intervenciones</a:t>
            </a:r>
            <a:r>
              <a:rPr lang="en-US" sz="1400" dirty="0"/>
              <a:t> </a:t>
            </a:r>
            <a:r>
              <a:rPr lang="en-US" sz="1400" dirty="0" err="1"/>
              <a:t>adaptadas</a:t>
            </a:r>
            <a:r>
              <a:rPr lang="en-US" sz="1400" dirty="0"/>
              <a:t> a </a:t>
            </a:r>
            <a:r>
              <a:rPr lang="en-US" sz="1400" dirty="0" err="1"/>
              <a:t>estos</a:t>
            </a:r>
            <a:r>
              <a:rPr lang="en-US" sz="1400" dirty="0"/>
              <a:t>: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Mayor </a:t>
            </a:r>
            <a:r>
              <a:rPr lang="en-US" dirty="0" err="1"/>
              <a:t>afectación</a:t>
            </a:r>
            <a:r>
              <a:rPr lang="en-US" dirty="0"/>
              <a:t> en </a:t>
            </a:r>
            <a:r>
              <a:rPr lang="en-US" dirty="0" err="1"/>
              <a:t>mujeres</a:t>
            </a:r>
            <a:r>
              <a:rPr lang="en-US" dirty="0"/>
              <a:t>  y de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dirty="0" err="1"/>
              <a:t>edad</a:t>
            </a:r>
            <a:r>
              <a:rPr lang="en-US" dirty="0"/>
              <a:t>.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Impacto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intenso</a:t>
            </a:r>
            <a:r>
              <a:rPr lang="en-US" dirty="0"/>
              <a:t> en </a:t>
            </a:r>
            <a:r>
              <a:rPr lang="en-US" dirty="0" err="1"/>
              <a:t>entornos</a:t>
            </a:r>
            <a:r>
              <a:rPr lang="en-US" dirty="0"/>
              <a:t> </a:t>
            </a:r>
            <a:r>
              <a:rPr lang="en-US" dirty="0" err="1"/>
              <a:t>urbanos</a:t>
            </a:r>
            <a:r>
              <a:rPr lang="en-US" dirty="0"/>
              <a:t>.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Los </a:t>
            </a:r>
            <a:r>
              <a:rPr lang="en-US" dirty="0" err="1"/>
              <a:t>perfiles</a:t>
            </a:r>
            <a:r>
              <a:rPr lang="en-US" dirty="0"/>
              <a:t> que </a:t>
            </a:r>
            <a:r>
              <a:rPr lang="en-US" dirty="0" err="1"/>
              <a:t>mostraron</a:t>
            </a:r>
            <a:r>
              <a:rPr lang="en-US" dirty="0"/>
              <a:t> mayor </a:t>
            </a:r>
            <a:r>
              <a:rPr lang="en-US" dirty="0" err="1"/>
              <a:t>resiliencia</a:t>
            </a:r>
            <a:r>
              <a:rPr lang="en-US" dirty="0"/>
              <a:t> </a:t>
            </a:r>
            <a:r>
              <a:rPr lang="en-US" dirty="0" err="1"/>
              <a:t>fueron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hombres </a:t>
            </a:r>
            <a:r>
              <a:rPr lang="en-US" dirty="0" err="1"/>
              <a:t>mayores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entornos</a:t>
            </a:r>
            <a:r>
              <a:rPr lang="en-US" dirty="0"/>
              <a:t> rurales.</a:t>
            </a:r>
          </a:p>
          <a:p>
            <a:pPr marL="57150">
              <a:spcBef>
                <a:spcPts val="0"/>
              </a:spcBef>
            </a:pPr>
            <a:endParaRPr lang="en-US" sz="1400" dirty="0"/>
          </a:p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Desde</a:t>
            </a:r>
            <a:r>
              <a:rPr lang="en-US" sz="1400" dirty="0"/>
              <a:t> lo </a:t>
            </a:r>
            <a:r>
              <a:rPr lang="en-US" sz="1400" dirty="0" err="1"/>
              <a:t>metodológico</a:t>
            </a:r>
            <a:r>
              <a:rPr lang="en-US" sz="1400" dirty="0"/>
              <a:t>,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modelo</a:t>
            </a:r>
            <a:r>
              <a:rPr lang="en-US" sz="1400" dirty="0"/>
              <a:t> LDA </a:t>
            </a:r>
            <a:r>
              <a:rPr lang="en-US" sz="1400" dirty="0" err="1"/>
              <a:t>clasificó</a:t>
            </a:r>
            <a:r>
              <a:rPr lang="en-US" sz="1400" dirty="0"/>
              <a:t> </a:t>
            </a:r>
            <a:r>
              <a:rPr lang="en-US" sz="1400" dirty="0" err="1"/>
              <a:t>mejor</a:t>
            </a:r>
            <a:r>
              <a:rPr lang="en-US" sz="1400" dirty="0"/>
              <a:t>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niveles</a:t>
            </a:r>
            <a:r>
              <a:rPr lang="en-US" sz="1400" dirty="0"/>
              <a:t> de </a:t>
            </a:r>
            <a:r>
              <a:rPr lang="en-US" sz="1400" dirty="0" err="1"/>
              <a:t>afectación</a:t>
            </a:r>
            <a:r>
              <a:rPr lang="en-US" sz="1400" dirty="0"/>
              <a:t> con </a:t>
            </a:r>
            <a:r>
              <a:rPr lang="en-US" sz="1400" dirty="0" err="1"/>
              <a:t>respecto</a:t>
            </a:r>
            <a:r>
              <a:rPr lang="en-US" sz="1400" dirty="0"/>
              <a:t> a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modelos</a:t>
            </a:r>
            <a:r>
              <a:rPr lang="en-US" sz="1400" dirty="0"/>
              <a:t> RF, </a:t>
            </a:r>
            <a:r>
              <a:rPr lang="en-US" sz="1400" dirty="0" err="1"/>
              <a:t>especialmente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casos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graves.</a:t>
            </a:r>
          </a:p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Limitaciones</a:t>
            </a:r>
            <a:r>
              <a:rPr lang="en-US" sz="1400" dirty="0"/>
              <a:t>: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El </a:t>
            </a:r>
            <a:r>
              <a:rPr lang="en-US" dirty="0" err="1"/>
              <a:t>estudio</a:t>
            </a:r>
            <a:r>
              <a:rPr lang="en-US" dirty="0"/>
              <a:t> solo se centra en 5 CCAA.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Falta de datos, </a:t>
            </a:r>
            <a:r>
              <a:rPr lang="en-US" dirty="0" err="1"/>
              <a:t>como</a:t>
            </a:r>
            <a:r>
              <a:rPr lang="en-US" dirty="0"/>
              <a:t> variables </a:t>
            </a:r>
            <a:r>
              <a:rPr lang="en-US" dirty="0" err="1"/>
              <a:t>centradas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acceso</a:t>
            </a:r>
            <a:r>
              <a:rPr lang="en-US" dirty="0"/>
              <a:t> a </a:t>
            </a:r>
            <a:r>
              <a:rPr lang="en-US" dirty="0" err="1"/>
              <a:t>servicios</a:t>
            </a:r>
            <a:r>
              <a:rPr lang="en-US" dirty="0"/>
              <a:t>, redes de </a:t>
            </a:r>
            <a:r>
              <a:rPr lang="en-US" dirty="0" err="1"/>
              <a:t>apoyo</a:t>
            </a:r>
            <a:r>
              <a:rPr lang="en-US" dirty="0"/>
              <a:t> y </a:t>
            </a:r>
            <a:r>
              <a:rPr lang="en-US" dirty="0" err="1"/>
              <a:t>empleo</a:t>
            </a:r>
            <a:r>
              <a:rPr lang="en-US" dirty="0"/>
              <a:t>.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Conclusión</a:t>
            </a:r>
            <a:r>
              <a:rPr lang="en-US" sz="1400" dirty="0"/>
              <a:t> final:</a:t>
            </a:r>
          </a:p>
          <a:p>
            <a:pPr marL="7429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Comprender</a:t>
            </a:r>
            <a:r>
              <a:rPr lang="en-US" dirty="0"/>
              <a:t> las </a:t>
            </a:r>
            <a:r>
              <a:rPr lang="en-US" dirty="0" err="1"/>
              <a:t>diferencias</a:t>
            </a:r>
            <a:r>
              <a:rPr lang="en-US" dirty="0"/>
              <a:t> </a:t>
            </a:r>
            <a:r>
              <a:rPr lang="en-US" dirty="0" err="1"/>
              <a:t>sociales</a:t>
            </a:r>
            <a:r>
              <a:rPr lang="en-US" dirty="0"/>
              <a:t>, </a:t>
            </a:r>
            <a:r>
              <a:rPr lang="en-US" dirty="0" err="1"/>
              <a:t>territoriales</a:t>
            </a:r>
            <a:r>
              <a:rPr lang="en-US" dirty="0"/>
              <a:t> y </a:t>
            </a:r>
            <a:r>
              <a:rPr lang="en-US" dirty="0" err="1"/>
              <a:t>demográficas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salud mental es </a:t>
            </a:r>
            <a:r>
              <a:rPr lang="en-US" dirty="0" err="1"/>
              <a:t>esencial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políticas</a:t>
            </a:r>
            <a:r>
              <a:rPr lang="en-US" dirty="0"/>
              <a:t> </a:t>
            </a:r>
            <a:r>
              <a:rPr lang="en-US" dirty="0" err="1"/>
              <a:t>ajustadas</a:t>
            </a:r>
            <a:r>
              <a:rPr lang="en-US" dirty="0"/>
              <a:t> a la </a:t>
            </a:r>
            <a:r>
              <a:rPr lang="en-US" dirty="0" err="1"/>
              <a:t>realidad</a:t>
            </a:r>
            <a:r>
              <a:rPr lang="en-US" dirty="0"/>
              <a:t> </a:t>
            </a:r>
            <a:r>
              <a:rPr lang="en-US" dirty="0" err="1"/>
              <a:t>diversa</a:t>
            </a:r>
            <a:r>
              <a:rPr lang="en-US" dirty="0"/>
              <a:t> de la población </a:t>
            </a:r>
            <a:r>
              <a:rPr lang="en-US" dirty="0" err="1"/>
              <a:t>española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5" name="Gráfico 4" descr="Portapapeles comprobado con relleno sólido">
            <a:extLst>
              <a:ext uri="{FF2B5EF4-FFF2-40B4-BE49-F238E27FC236}">
                <a16:creationId xmlns:a16="http://schemas.microsoft.com/office/drawing/2014/main" id="{2A841DB1-C653-D2F4-485D-569777E3A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812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59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8DCDA5-8F9C-63A9-6C1F-C0FBE309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atención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tiempo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699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3512</Words>
  <Application>Microsoft Office PowerPoint</Application>
  <PresentationFormat>Panorámica</PresentationFormat>
  <Paragraphs>623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Tema de Office</vt:lpstr>
      <vt:lpstr>Impacto de la pandemia COVID-19 en la salud mental en España:  Un análisis estadístico a partir de datos del CIS </vt:lpstr>
      <vt:lpstr>Introducción:</vt:lpstr>
      <vt:lpstr>Objetivos:</vt:lpstr>
      <vt:lpstr>Estado de la cuestión:</vt:lpstr>
      <vt:lpstr>Metodología:</vt:lpstr>
      <vt:lpstr>Análisis previo de los datos:</vt:lpstr>
      <vt:lpstr>Análisis de componentes principales – PCA Andalucía:</vt:lpstr>
      <vt:lpstr>Comparación de resultados del PCA :</vt:lpstr>
      <vt:lpstr>Modelo LDA: Clasificación del impacto en la salud mental – LDA Andalucía:</vt:lpstr>
      <vt:lpstr>Modelo LDA: Clasificación de niveles de afectación por CCAA:</vt:lpstr>
      <vt:lpstr>Modelo RF: Clasificación del impacto en la salud mental – RF Andalucía:</vt:lpstr>
      <vt:lpstr>Modelo RF: Clasificación de niveles de afectación por CCAA:</vt:lpstr>
      <vt:lpstr>Comparativa LDA vs RF:</vt:lpstr>
      <vt:lpstr>Análisis de Clústeres – Clustering Andalucía:</vt:lpstr>
      <vt:lpstr>Clustering: Clasificación de perfiles por CCAA:</vt:lpstr>
      <vt:lpstr>Conclusiones:</vt:lpstr>
      <vt:lpstr>Gracias por su atención y tiempo.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Arostegui Gros</dc:creator>
  <cp:lastModifiedBy>Angel Arostegui Gros</cp:lastModifiedBy>
  <cp:revision>20</cp:revision>
  <dcterms:created xsi:type="dcterms:W3CDTF">2025-06-18T23:14:49Z</dcterms:created>
  <dcterms:modified xsi:type="dcterms:W3CDTF">2025-11-14T15:38:52Z</dcterms:modified>
</cp:coreProperties>
</file>